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MAE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(lower is better)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C_LLM (baseline)</c:v>
                  </c:pt>
                  <c:pt idx="1">
                    <c:v>ConceptGrade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1.2821</c:v>
                </c:pt>
                <c:pt idx="1">
                  <c:v>1.1771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Pearson 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 (higher is better)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C_LLM (baseline)</c:v>
                  </c:pt>
                  <c:pt idx="1">
                    <c:v>ConceptGrade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0.7904</c:v>
                </c:pt>
                <c:pt idx="1">
                  <c:v>0.7841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MAE — Raw vs. Isotonic-Calibrated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spPr>
            <a:solidFill>
              <a:srgbClr val="6BAE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C_LLM</c:v>
                  </c:pt>
                  <c:pt idx="1">
                    <c:v>ConceptGrade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1.2821</c:v>
                </c:pt>
                <c:pt idx="1">
                  <c:v>1.1771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Calibrated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C_LLM</c:v>
                  </c:pt>
                  <c:pt idx="1">
                    <c:v>ConceptGrade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0.3746</c:v>
                </c:pt>
                <c:pt idx="1">
                  <c:v>0.3924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Knowledge-Component MAE (0–5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C_LLM
(no KG)</c:v>
                  </c:pt>
                  <c:pt idx="1">
                    <c:v>KG-grounded score
(no Verifier)</c:v>
                  </c:pt>
                  <c:pt idx="2">
                    <c:v>ConceptGrade
(full, w/ Verifier)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1.282</c:v>
                </c:pt>
                <c:pt idx="1">
                  <c:v>2.397</c:v>
                </c:pt>
                <c:pt idx="2">
                  <c:v>1.177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Pre-Verifier Blend MAE across kg_weight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0.00
(pure holistic)</c:v>
                  </c:pt>
                  <c:pt idx="1">
                    <c:v>0.05
(deployed)</c:v>
                  </c:pt>
                  <c:pt idx="2">
                    <c:v>0.50</c:v>
                  </c:pt>
                  <c:pt idx="3">
                    <c:v>1.00
(pure KG-formula)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2.4021</c:v>
                </c:pt>
                <c:pt idx="1">
                  <c:v>2.3968</c:v>
                </c:pt>
                <c:pt idx="2">
                  <c:v>2.1288</c:v>
                </c:pt>
                <c:pt idx="3">
                  <c:v>1.9004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MAE Change vs. Single-Call Baseline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vs. single-call baseline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70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Mohler (50q)</c:v>
                  </c:pt>
                  <c:pt idx="1">
                    <c:v>DigiKlausur (17q)</c:v>
                  </c:pt>
                  <c:pt idx="2">
                    <c:v>Kaggle ASAG (150q)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-9.8</c:v>
                </c:pt>
                <c:pt idx="1">
                  <c:v>-12.2</c:v>
                </c:pt>
                <c:pt idx="2">
                  <c:v>-2.4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6.xml"/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73736"/>
            <a:ext cx="10104120" cy="2651760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54480" y="3200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2 OF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685800"/>
            <a:ext cx="9692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Evaluation: What Actually Works — and What Doesn't Survive a Fairer Test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554480" y="2971800"/>
            <a:ext cx="9052560" cy="502920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91640" y="297180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Results, Ablation &amp; the Fair-Control Correction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5102352"/>
            <a:ext cx="3566160" cy="566928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10235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Brahmaji Katragadda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4535424"/>
            <a:ext cx="5120640" cy="1225296"/>
          </a:xfrm>
          <a:prstGeom prst="rect">
            <a:avLst/>
          </a:prstGeom>
          <a:solidFill>
            <a:srgbClr val="DEEBF7">
              <a:alpha val="8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46451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Computer Science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50292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ICFAI (IFHE), Hyderabad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Evaluation Datasets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6916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86868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 2011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6868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6868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1,262 responses / 46 Q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68680" y="34747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3E8E5C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89120" y="16916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61772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DigiKlausur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1772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 responses / 17 Q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17720" y="34747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3E8E5C"/>
          </a:solidFill>
          <a:ln/>
        </p:spPr>
      </p:sp>
      <p:sp>
        <p:nvSpPr>
          <p:cNvPr id="16" name="Text 12"/>
          <p:cNvSpPr/>
          <p:nvPr/>
        </p:nvSpPr>
        <p:spPr>
          <a:xfrm>
            <a:off x="461772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16916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36676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ASAG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366760" y="2331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Science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36676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 unique / 150 Q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366760" y="34747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E6A817"/>
          </a:solidFill>
          <a:ln/>
        </p:spPr>
      </p:sp>
      <p:sp>
        <p:nvSpPr>
          <p:cNvPr id="22" name="Text 18"/>
          <p:cNvSpPr/>
          <p:nvPr/>
        </p:nvSpPr>
        <p:spPr>
          <a:xfrm>
            <a:off x="836676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matters: DigiKlausur was verified character-for-character against its public GitHub source. Kaggle ASAG's acquisition path could not be reconstructed despite a targeted audit — reported honestly, not hidden.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Evaluation — Mohler Benchmark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1,262 responses, 46 questions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8308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035040" y="178308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Shape 2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394960"/>
            <a:ext cx="685800" cy="6858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828800" y="5212080"/>
            <a:ext cx="9418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 MAE reduction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&lt; 0.0001) — but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marginal once clustered by question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= 0.056), and Pearson r actually favors the baseline.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Recalibration: Scale Bias vs. Ranking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cross-validated isotonic regression — how much raw MAE is fixable scale bias?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7589520" y="18288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B2A4A"/>
          </a:solidFill>
          <a:ln/>
        </p:spPr>
      </p:sp>
      <p:sp>
        <p:nvSpPr>
          <p:cNvPr id="8" name="Text 3"/>
          <p:cNvSpPr/>
          <p:nvPr/>
        </p:nvSpPr>
        <p:spPr>
          <a:xfrm>
            <a:off x="786384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−70.8% / −66.7%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7863840" y="2651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cut roughly 3× for both systems — most raw error was fixable scale bias, not genuine ranking error.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7863840" y="3703320"/>
            <a:ext cx="3383280" cy="0"/>
          </a:xfrm>
          <a:prstGeom prst="line">
            <a:avLst/>
          </a:prstGeom>
          <a:noFill/>
          <a:ln w="12700">
            <a:solidFill>
              <a:srgbClr val="6BAED6"/>
            </a:solidFill>
            <a:prstDash val="dash"/>
          </a:ln>
        </p:spPr>
      </p:sp>
      <p:sp>
        <p:nvSpPr>
          <p:cNvPr id="11" name="Text 6"/>
          <p:cNvSpPr/>
          <p:nvPr/>
        </p:nvSpPr>
        <p:spPr>
          <a:xfrm>
            <a:off x="786384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INVERTS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863840" y="42519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calibrated, C_LLM has significantly lower MAE than ConceptGrade (p = 0.017). The raw MAE edge was mostly an artifact of scale, not better judgment.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Where Does the Gain Come From?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Shape 1"/>
          <p:cNvSpPr/>
          <p:nvPr/>
        </p:nvSpPr>
        <p:spPr>
          <a:xfrm>
            <a:off x="7818120" y="1691640"/>
            <a:ext cx="3703320" cy="3931920"/>
          </a:xfrm>
          <a:prstGeom prst="roundRect">
            <a:avLst>
              <a:gd name="adj" fmla="val 2469"/>
            </a:avLst>
          </a:prstGeom>
          <a:solidFill>
            <a:srgbClr val="1B2A4A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920240"/>
            <a:ext cx="594360" cy="5943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823960" y="1920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−86.9%</a:t>
            </a:r>
            <a:endParaRPr lang="en-US" sz="2600" dirty="0"/>
          </a:p>
        </p:txBody>
      </p:sp>
      <p:sp>
        <p:nvSpPr>
          <p:cNvPr id="9" name="Text 3"/>
          <p:cNvSpPr/>
          <p:nvPr/>
        </p:nvSpPr>
        <p:spPr>
          <a:xfrm>
            <a:off x="8092440" y="260604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KG-grounded score is dramatically worse than baseline — alone.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8092440" y="3520440"/>
            <a:ext cx="3246120" cy="0"/>
          </a:xfrm>
          <a:prstGeom prst="line">
            <a:avLst/>
          </a:prstGeom>
          <a:noFill/>
          <a:ln w="12700">
            <a:solidFill>
              <a:srgbClr val="6BAED6"/>
            </a:solidFill>
            <a:prstDash val="dash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703320"/>
            <a:ext cx="502920" cy="5029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732520" y="3703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E2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+8.2%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8092440" y="42976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recovers essentially all of it: +50.9% MAE improvement over the KG-only score.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8092440" y="52578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Cross-validated: w = 1.0 chosen on every leave-one-question-out fold — not a tuning artifact.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Tuning kg_weight Fix It?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grid sweep, pre-Verifier blend, real Mohler data (n = 1,262)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7818120" y="1828800"/>
            <a:ext cx="3703320" cy="3657600"/>
          </a:xfrm>
          <a:prstGeom prst="roundRect">
            <a:avLst>
              <a:gd name="adj" fmla="val 2500"/>
            </a:avLst>
          </a:prstGeom>
          <a:solidFill>
            <a:srgbClr val="1B2A4A"/>
          </a:solidFill>
          <a:ln/>
        </p:spPr>
      </p:sp>
      <p:sp>
        <p:nvSpPr>
          <p:cNvPr id="8" name="Text 3"/>
          <p:cNvSpPr/>
          <p:nvPr/>
        </p:nvSpPr>
        <p:spPr>
          <a:xfrm>
            <a:off x="8092440" y="20574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decreases monotonically as kg_weight rises — the deployed default (0.05) is not optimal in isolation.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8092440" y="3246120"/>
            <a:ext cx="3200400" cy="0"/>
          </a:xfrm>
          <a:prstGeom prst="line">
            <a:avLst/>
          </a:prstGeom>
          <a:noFill/>
          <a:ln w="12700">
            <a:solidFill>
              <a:srgbClr val="6BAED6"/>
            </a:solidFill>
            <a:prstDash val="dash"/>
          </a:ln>
        </p:spPr>
      </p:sp>
      <p:sp>
        <p:nvSpPr>
          <p:cNvPr id="10" name="Text 5"/>
          <p:cNvSpPr/>
          <p:nvPr/>
        </p:nvSpPr>
        <p:spPr>
          <a:xfrm>
            <a:off x="809244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doesn't matter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092440" y="37947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its best point (1.9004), the pre-Verifier score is still far worse than C_LLM (1.2821) or the full pipeline (1.1771). No point on this sweep is competitive.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Ensembling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independent gradings at T = 0.7, mean-aggregated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108813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640080" y="45720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single-call baseline: every leave-one-question-out fold reaches significance at both tails on Mohler and DigiKlausur. Looks like the strongest result in the project.</a:t>
            </a:r>
            <a:endParaRPr lang="en-US" sz="1250" dirty="0"/>
          </a:p>
        </p:txBody>
      </p:sp>
      <p:sp>
        <p:nvSpPr>
          <p:cNvPr id="8" name="Shape 3"/>
          <p:cNvSpPr/>
          <p:nvPr/>
        </p:nvSpPr>
        <p:spPr>
          <a:xfrm>
            <a:off x="640080" y="51206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57800"/>
            <a:ext cx="548640" cy="5486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45920" y="5120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is a single-call baseline the right control for a 7×-resourced system?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Fair-Control Correction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C_LLM with the identical 7× / T=0.7 / mean-aggregation treatment — head to head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7" name="Text 3"/>
          <p:cNvSpPr/>
          <p:nvPr/>
        </p:nvSpPr>
        <p:spPr>
          <a:xfrm>
            <a:off x="82296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84632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single-call baseline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5528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fair (7×) baseline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2286000"/>
            <a:ext cx="108813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 MAE gap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84632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−9.8%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95528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+7.0% (holds, p&lt;0.001)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2834640"/>
            <a:ext cx="10881360" cy="548640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2834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 cluster p / LOOCV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84632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significant, 50/50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955280" y="2834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p=0.256 (n.s.), 0/46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3383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DigiKlausur MAE gap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84632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−12.2%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955280" y="3383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 (holds, p&lt;0.001)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" y="3931920"/>
            <a:ext cx="10881360" cy="548640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23" name="Text 19"/>
          <p:cNvSpPr/>
          <p:nvPr/>
        </p:nvSpPr>
        <p:spPr>
          <a:xfrm>
            <a:off x="82296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DigiKlausur cluster p / LOOCV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846320" y="3931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significant, 17/17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95528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p=0.089 (n.s.), 5/17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4480560"/>
            <a:ext cx="108813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3"/>
          <p:cNvSpPr/>
          <p:nvPr/>
        </p:nvSpPr>
        <p:spPr>
          <a:xfrm>
            <a:off x="822960" y="4480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DigiKlausur correlation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84632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0.727 &gt; 0.701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955280" y="4480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0.727 &lt; 0.735 (REVERSES)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Response-level gains survive on both datasets. Question-level robustness — the headline claim — largely does not.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ASAG: A Predicted Null Result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914400" y="16916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914400" y="2606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Kaggle ASAG samples return zero KG-answer concept matches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097280" y="3383280"/>
            <a:ext cx="4297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35661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Elementary-science vocabulary has essentially zero overlap with a Data-Structures KG — a domain boundary, not a system failure.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72200" y="14173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B2A4A"/>
          </a:solidFill>
          <a:ln/>
        </p:spPr>
      </p:sp>
      <p:sp>
        <p:nvSpPr>
          <p:cNvPr id="11" name="Text 7"/>
          <p:cNvSpPr/>
          <p:nvPr/>
        </p:nvSpPr>
        <p:spPr>
          <a:xfrm>
            <a:off x="6446520" y="1645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declines monotonically with vocabulary specificity: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46520" y="2468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75320" y="2468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CS terminology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424160" y="24688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46520" y="3063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DigiKlausur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75320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but flexible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424160" y="306324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446520" y="3657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ASAG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27532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colloquial elementary science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424160" y="365760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446520" y="4434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treated as the cleanest, most falsifiable finding in the project: the architecture predicts its own boundary, and the data confirms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Statistical Test Choice Matter?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Cluster-mean Wilcoxon vs. a linear mixed-effects model (LMM)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64008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594360" cy="59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Mohler: strengthens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914400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Mohler comparisons go from cluster-Wilcoxon non-significant to LMM p ≤ 0.0125.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6172200" y="178308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011680"/>
            <a:ext cx="594360" cy="59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2376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DigiKlausur: weakens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446520" y="27432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result — one of only two comparisons that reached cluster-level significance anywhere in this paper — loses it under LMM: p = 0.0489 → 0.2471.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are reported — neither is cherry-picked to favor a claim.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Boundary Characterisation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40080" y="141732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B2A4A"/>
          </a:solidFill>
          <a:ln/>
        </p:spPr>
      </p:sp>
      <p:sp>
        <p:nvSpPr>
          <p:cNvPr id="6" name="Text 2"/>
          <p:cNvSpPr/>
          <p:nvPr/>
        </p:nvSpPr>
        <p:spPr>
          <a:xfrm>
            <a:off x="91440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Fixed-effects pool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914400" y="1965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−0.105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91440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 — looks decisive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914400" y="3017520"/>
            <a:ext cx="4663440" cy="0"/>
          </a:xfrm>
          <a:prstGeom prst="line">
            <a:avLst/>
          </a:prstGeom>
          <a:noFill/>
          <a:ln w="12700">
            <a:solidFill>
              <a:srgbClr val="6BAED6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914400" y="3154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Random-effects pool (stricter)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14400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−0.084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14400" y="4023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[−0.169, +0.002] — essentially touches zero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72200" y="141732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459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16733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 = 73.2%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446520" y="2286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3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between-dataset heterogeneity — a single pooled effect is a poor summary. We lead with per-dataset results.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46520" y="3566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call-budget-matched control confirms the gain isn't attributable to inference budget alone: +4.4% MAE, p=0.0053 (response-level).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falsifiable boundary characterisation — not a generalisation claim.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DC3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brahmajikatragadda-Desktop-PHD-NodeGrade/b7a79f34-9904-4a09-9f4e-68c4de20919b/scratchpad/seminars/template_assets/logo_icfai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"/>
            <a:ext cx="2715768" cy="530352"/>
          </a:xfrm>
          <a:prstGeom prst="rect">
            <a:avLst/>
          </a:prstGeom>
        </p:spPr>
      </p:pic>
      <p:pic>
        <p:nvPicPr>
          <p:cNvPr id="3" name="Image 1" descr="/private/tmp/claude-501/-Users-brahmajikatragadda-Desktop-PHD-NodeGrade/b7a79f34-9904-4a09-9f4e-68c4de20919b/scratchpad/seminars/template_assets/logo_icfaite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54864"/>
            <a:ext cx="1444752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621792"/>
            <a:ext cx="10908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Seminar 3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73152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Failure Analysis &amp; Research Integrity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731520" y="210312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1005840" y="21031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Why does the raw KG-grounded score fail so badly — mechanistically?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297180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05840" y="29718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Two real scoring bugs, five rejected repair attempts, and a pre-committed stopping rule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31520" y="384048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05840" y="384048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a dataset provenance audit distinguished “unverified” from “fake” — and why that distinction matters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2026-07-31T08:57:12Z</dcterms:created>
  <dcterms:modified xsi:type="dcterms:W3CDTF">2026-07-31T08:57:12Z</dcterms:modified>
</cp:coreProperties>
</file>