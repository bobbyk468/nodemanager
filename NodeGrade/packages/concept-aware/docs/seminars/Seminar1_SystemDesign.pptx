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73736"/>
            <a:ext cx="10104120" cy="2651760"/>
          </a:xfrm>
          <a:prstGeom prst="rect">
            <a:avLst/>
          </a:prstGeom>
          <a:solidFill>
            <a:srgbClr val="DEEBF7">
              <a:alpha val="8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554480" y="32004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1 OF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685800"/>
            <a:ext cx="9692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ConceptGrade: A Knowledge-Graph-Driven Framework for Concept-Aware Automated Short Answer Grading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1554480" y="2971800"/>
            <a:ext cx="9052560" cy="502920"/>
          </a:xfrm>
          <a:prstGeom prst="rect">
            <a:avLst/>
          </a:prstGeom>
          <a:solidFill>
            <a:srgbClr val="DEEBF7">
              <a:alpha val="8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691640" y="297180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System Design &amp; Motivation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5102352"/>
            <a:ext cx="3566160" cy="566928"/>
          </a:xfrm>
          <a:prstGeom prst="rect">
            <a:avLst/>
          </a:prstGeom>
          <a:solidFill>
            <a:srgbClr val="DEEBF7">
              <a:alpha val="8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102352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Brahmaji Katragadda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0" y="4535424"/>
            <a:ext cx="5120640" cy="1225296"/>
          </a:xfrm>
          <a:prstGeom prst="rect">
            <a:avLst/>
          </a:prstGeom>
          <a:solidFill>
            <a:srgbClr val="DEEBF7">
              <a:alpha val="8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4645152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03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of Computer Science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502920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03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ICFAI (IFHE), Hyderabad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short-answer questions at scale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3"/>
          <p:cNvSpPr/>
          <p:nvPr/>
        </p:nvSpPr>
        <p:spPr>
          <a:xfrm>
            <a:off x="64008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234440" y="18928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&amp; inconsistent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234440" y="23774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grading of CS short-answers doesn't scale to large classes, and delays feedback to students.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1" name="Text 7"/>
          <p:cNvSpPr/>
          <p:nvPr/>
        </p:nvSpPr>
        <p:spPr>
          <a:xfrm>
            <a:off x="64008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234440" y="32644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without explanation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234440" y="37490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lexical, embedding, and LLM zero-shot graders output a number — not which concepts were understood.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1"/>
          <p:cNvSpPr/>
          <p:nvPr/>
        </p:nvSpPr>
        <p:spPr>
          <a:xfrm>
            <a:off x="64008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234440" y="4636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misconceptions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1234440" y="51206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alone can't tell an instructor whether a student confused LIFO with FIFO, or never engaged with the concept.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126480" y="1874520"/>
            <a:ext cx="539496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1B2A4A">
                <a:alpha val="15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9456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315200" y="2258568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ConceptGrade's Premise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6492240" y="30175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grading as a knowledge-graph matching task: convert each free-text answer into a typed concept graph, and compare it against an expert domain graph.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492240" y="434340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yields an explicit, inspectable record of what a student did and didn't demonstrate — not just a score.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Approaches Miss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40080" y="141732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804672" y="1600200"/>
            <a:ext cx="23042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/ LSA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(Mohler &amp; Mihalcea)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804672" y="2468880"/>
            <a:ext cx="23042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0.493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804672" y="3063240"/>
            <a:ext cx="23042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overlap only — no concept structure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383280" y="141732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3547872" y="1600200"/>
            <a:ext cx="23042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Graphs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(Mohler et al. 2011)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547872" y="2468880"/>
            <a:ext cx="23042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0.518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3547872" y="3063240"/>
            <a:ext cx="23042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alignment, still no explicit KG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141732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6291072" y="1600200"/>
            <a:ext cx="23042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Fine-Tuning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(BERT-based)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291072" y="2468880"/>
            <a:ext cx="23042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0.620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291072" y="3063240"/>
            <a:ext cx="23042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raw correlation, fully opaque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869680" y="141732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9034272" y="1600200"/>
            <a:ext cx="23042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Zero-Shot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(C_LLM baseline)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9034272" y="2468880"/>
            <a:ext cx="23042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9034272" y="3063240"/>
            <a:ext cx="23042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explicit conceptual record kept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863072" cy="1417320"/>
          </a:xfrm>
          <a:prstGeom prst="roundRect">
            <a:avLst>
              <a:gd name="adj" fmla="val 6452"/>
            </a:avLst>
          </a:prstGeom>
          <a:solidFill>
            <a:srgbClr val="1B2A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45152"/>
            <a:ext cx="914400" cy="9144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2103120" y="4572000"/>
            <a:ext cx="8595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ConceptGrade extends concept-map assessment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where students draw node-link diagrams graded against an expert map — to free-text answers, by inferring an equivalent graph automatically via LLM extraction.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Contributions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2"/>
          <p:cNvSpPr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1280160" y="138988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five-layer grading pipeline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5623560" y="138988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extraction → KG comparison → cognitive-depth classification → misconception detection → Verifier synthesis.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" y="2167128"/>
            <a:ext cx="457200" cy="45720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2167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280160" y="213969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hand-built Data Structures KG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5623560" y="2139696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concepts, 138 typed relationships, eight semantic types — frozen before evaluation.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2916936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0"/>
          <p:cNvSpPr/>
          <p:nvPr/>
        </p:nvSpPr>
        <p:spPr>
          <a:xfrm>
            <a:off x="640080" y="29169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80160" y="288950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honest, real-data evaluation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5623560" y="2889504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response-level-significant but question-level-fragile gain, with the true source of the gain identified via ablation.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280160" y="36393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ensembling, fairly tested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623560" y="3639312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robustness claim that partially collapses under an equally-resourced control — reported as found, not as hoped.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416552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" y="4416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280160" y="43891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reproducible, cost-transparent protocol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5623560" y="438912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automated checks recompute every reported number from cached predictions.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frame this as an empirical study of where and why KG-LLM hybrid grading helps — not a claim that it always does.”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layers, question + student answer in → score + explanation out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640080" y="1920240"/>
            <a:ext cx="1883664" cy="2514600"/>
          </a:xfrm>
          <a:prstGeom prst="roundRect">
            <a:avLst>
              <a:gd name="adj" fmla="val 3883"/>
            </a:avLst>
          </a:prstGeom>
          <a:solidFill>
            <a:srgbClr val="1B2A4A"/>
          </a:solidFill>
          <a:ln w="19050">
            <a:solidFill>
              <a:srgbClr val="6BAED6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77240" y="2029968"/>
            <a:ext cx="16093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A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777240" y="2450592"/>
            <a:ext cx="16093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77240" y="3291840"/>
            <a:ext cx="16093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(gemini-2.5-flash), 3× self-consistency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523744" y="3031236"/>
            <a:ext cx="365760" cy="292608"/>
          </a:xfrm>
          <a:prstGeom prst="rightArrow">
            <a:avLst/>
          </a:prstGeom>
          <a:solidFill>
            <a:srgbClr val="6BAED6"/>
          </a:solidFill>
          <a:ln/>
        </p:spPr>
      </p:sp>
      <p:sp>
        <p:nvSpPr>
          <p:cNvPr id="11" name="Shape 7"/>
          <p:cNvSpPr/>
          <p:nvPr/>
        </p:nvSpPr>
        <p:spPr>
          <a:xfrm>
            <a:off x="2889504" y="1920240"/>
            <a:ext cx="1883664" cy="2514600"/>
          </a:xfrm>
          <a:prstGeom prst="roundRect">
            <a:avLst>
              <a:gd name="adj" fmla="val 3883"/>
            </a:avLst>
          </a:prstGeom>
          <a:solidFill>
            <a:srgbClr val="1B2A4A"/>
          </a:solidFill>
          <a:ln w="19050">
            <a:solidFill>
              <a:srgbClr val="6BAED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026664" y="2029968"/>
            <a:ext cx="16093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A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026664" y="2450592"/>
            <a:ext cx="16093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026664" y="3291840"/>
            <a:ext cx="16093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LLM-free matching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73168" y="3031236"/>
            <a:ext cx="365760" cy="292608"/>
          </a:xfrm>
          <a:prstGeom prst="rightArrow">
            <a:avLst/>
          </a:prstGeom>
          <a:solidFill>
            <a:srgbClr val="6BAED6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1920240"/>
            <a:ext cx="1883664" cy="2514600"/>
          </a:xfrm>
          <a:prstGeom prst="roundRect">
            <a:avLst>
              <a:gd name="adj" fmla="val 3883"/>
            </a:avLst>
          </a:prstGeom>
          <a:solidFill>
            <a:srgbClr val="1B2A4A"/>
          </a:solidFill>
          <a:ln w="19050">
            <a:solidFill>
              <a:srgbClr val="6BAED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276088" y="2029968"/>
            <a:ext cx="16093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A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276088" y="2450592"/>
            <a:ext cx="16093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276088" y="3291840"/>
            <a:ext cx="16093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Bloom's (L1–L6) + SOLO (L1–L5)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022592" y="3031236"/>
            <a:ext cx="365760" cy="292608"/>
          </a:xfrm>
          <a:prstGeom prst="rightArrow">
            <a:avLst/>
          </a:prstGeom>
          <a:solidFill>
            <a:srgbClr val="6BAED6"/>
          </a:solidFill>
          <a:ln/>
        </p:spPr>
      </p:sp>
      <p:sp>
        <p:nvSpPr>
          <p:cNvPr id="21" name="Shape 17"/>
          <p:cNvSpPr/>
          <p:nvPr/>
        </p:nvSpPr>
        <p:spPr>
          <a:xfrm>
            <a:off x="7388352" y="1920240"/>
            <a:ext cx="1883664" cy="2514600"/>
          </a:xfrm>
          <a:prstGeom prst="roundRect">
            <a:avLst>
              <a:gd name="adj" fmla="val 3883"/>
            </a:avLst>
          </a:prstGeom>
          <a:solidFill>
            <a:srgbClr val="1B2A4A"/>
          </a:solidFill>
          <a:ln w="19050">
            <a:solidFill>
              <a:srgbClr val="6BAED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525512" y="2029968"/>
            <a:ext cx="16093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A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525512" y="2450592"/>
            <a:ext cx="16093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Misconception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7525512" y="3291840"/>
            <a:ext cx="16093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16-entry validated taxonomy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9272016" y="3031236"/>
            <a:ext cx="365760" cy="292608"/>
          </a:xfrm>
          <a:prstGeom prst="rightArrow">
            <a:avLst/>
          </a:prstGeom>
          <a:solidFill>
            <a:srgbClr val="6BAED6"/>
          </a:solidFill>
          <a:ln/>
        </p:spPr>
      </p:sp>
      <p:sp>
        <p:nvSpPr>
          <p:cNvPr id="26" name="Shape 22"/>
          <p:cNvSpPr/>
          <p:nvPr/>
        </p:nvSpPr>
        <p:spPr>
          <a:xfrm>
            <a:off x="9637776" y="1920240"/>
            <a:ext cx="1883664" cy="2514600"/>
          </a:xfrm>
          <a:prstGeom prst="roundRect">
            <a:avLst>
              <a:gd name="adj" fmla="val 3883"/>
            </a:avLst>
          </a:prstGeom>
          <a:solidFill>
            <a:srgbClr val="1B2A4A"/>
          </a:solidFill>
          <a:ln w="19050">
            <a:solidFill>
              <a:srgbClr val="FF000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774936" y="2029968"/>
            <a:ext cx="16093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9774936" y="2450592"/>
            <a:ext cx="16093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Synthesis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Verifier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774936" y="3291840"/>
            <a:ext cx="16093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→ LLM Verifier, w = 1.0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40080" y="4572000"/>
            <a:ext cx="1883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+ Student Answer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637776" y="4572000"/>
            <a:ext cx="1883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Explanation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Application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node-graph editor is the real, running NodeGrade platform — not a mockup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51560" y="1828800"/>
            <a:ext cx="1005840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A4A">
                <a:alpha val="15000"/>
              </a:srgbClr>
            </a:outerShdw>
          </a:effectLst>
        </p:spPr>
      </p:sp>
      <p:pic>
        <p:nvPicPr>
          <p:cNvPr id="7" name="Image 2" descr="/private/tmp/claude-501/-Users-brahmajikatragadda-Desktop-PHD-NodeGrade/b7a79f34-9904-4a09-9f4e-68c4de20919b/scratchpad/seminars/screenshots/pipeline_crop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143000" y="1920240"/>
            <a:ext cx="987552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Example — A Real Graded Answer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live to the running system: “A stack is a data structure that uses FIFO order...”</a:t>
            </a:r>
            <a:endParaRPr lang="en-US" sz="1250" dirty="0"/>
          </a:p>
        </p:txBody>
      </p:sp>
      <p:sp>
        <p:nvSpPr>
          <p:cNvPr id="6" name="Shape 2"/>
          <p:cNvSpPr/>
          <p:nvPr/>
        </p:nvSpPr>
        <p:spPr>
          <a:xfrm>
            <a:off x="548640" y="1828800"/>
            <a:ext cx="553212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A4A">
                <a:alpha val="15000"/>
              </a:srgbClr>
            </a:outerShdw>
          </a:effectLst>
        </p:spPr>
      </p:sp>
      <p:pic>
        <p:nvPicPr>
          <p:cNvPr id="7" name="Image 2" descr="/private/tmp/claude-501/-Users-brahmajikatragadda-Desktop-PHD-NodeGrade/b7a79f34-9904-4a09-9f4e-68c4de20919b/scratchpad/seminars/screenshots/graded-top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1920240"/>
            <a:ext cx="5349240" cy="448056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172200" y="1828800"/>
            <a:ext cx="548640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A4A">
                <a:alpha val="15000"/>
              </a:srgbClr>
            </a:outerShdw>
          </a:effectLst>
        </p:spPr>
      </p:sp>
      <p:pic>
        <p:nvPicPr>
          <p:cNvPr id="9" name="Image 3" descr="/private/tmp/claude-501/-Users-brahmajikatragadda-Desktop-PHD-NodeGrade/b7a79f34-9904-4a09-9f4e-68c4de20919b/scratchpad/seminars/screenshots/graded-misconception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63640" y="1920240"/>
            <a:ext cx="530352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Concept Extraction</a:t>
            </a:r>
            <a:endParaRPr lang="en-US" sz="3000" dirty="0"/>
          </a:p>
        </p:txBody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63040"/>
            <a:ext cx="731520" cy="7315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645920" y="146304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receives the question and student answer and returns a typed student concept graph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Gₛ = (Vₛ, Eₛ)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run with 3× self-consistency (majority-vote, min_votes = 2/3) to reduce single-call extraction noise.</a:t>
            </a:r>
            <a:endParaRPr lang="en-US" sz="1350" dirty="0"/>
          </a:p>
        </p:txBody>
      </p:sp>
      <p:sp>
        <p:nvSpPr>
          <p:cNvPr id="7" name="Text 2"/>
          <p:cNvSpPr/>
          <p:nvPr/>
        </p:nvSpPr>
        <p:spPr>
          <a:xfrm>
            <a:off x="1645920" y="324612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below confidence τ = 0.70 are filtered; surface forms resolve to canonical KG identifiers via alias lookup.</a:t>
            </a:r>
            <a:endParaRPr lang="en-US" sz="1250" dirty="0"/>
          </a:p>
        </p:txBody>
      </p:sp>
      <p:sp>
        <p:nvSpPr>
          <p:cNvPr id="8" name="Shape 3"/>
          <p:cNvSpPr/>
          <p:nvPr/>
        </p:nvSpPr>
        <p:spPr>
          <a:xfrm>
            <a:off x="6949440" y="1417320"/>
            <a:ext cx="4572000" cy="4160520"/>
          </a:xfrm>
          <a:prstGeom prst="roundRect">
            <a:avLst>
              <a:gd name="adj" fmla="val 2198"/>
            </a:avLst>
          </a:prstGeom>
          <a:solidFill>
            <a:srgbClr val="1B2A4A"/>
          </a:solidFill>
          <a:ln/>
        </p:spPr>
      </p:sp>
      <p:sp>
        <p:nvSpPr>
          <p:cNvPr id="9" name="Text 4"/>
          <p:cNvSpPr/>
          <p:nvPr/>
        </p:nvSpPr>
        <p:spPr>
          <a:xfrm>
            <a:off x="7223760" y="16459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Question-focused ontology matching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7223760" y="21488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keyword matcher builds a focused ~10–20-concept ontology subset for the LLM prompt, instead of always supplying the full 101-concept KG.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7223760" y="3246120"/>
            <a:ext cx="3749040" cy="0"/>
          </a:xfrm>
          <a:prstGeom prst="line">
            <a:avLst/>
          </a:prstGeom>
          <a:noFill/>
          <a:ln w="12700">
            <a:solidFill>
              <a:srgbClr val="6BAED6"/>
            </a:solidFill>
            <a:prstDash val="dash"/>
          </a:ln>
        </p:spPr>
      </p:sp>
      <p:sp>
        <p:nvSpPr>
          <p:cNvPr id="12" name="Text 7"/>
          <p:cNvSpPr/>
          <p:nvPr/>
        </p:nvSpPr>
        <p:spPr>
          <a:xfrm>
            <a:off x="7223760" y="33832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found &amp; fixed this year: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7223760" y="370332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a queue?” tokenized without stripping punctuation → “queue?” never matched “queue” in KG text → false out-of-domain flag on 106/1,262 samples.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7223760" y="51206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 Seminar 3 →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Knowledge Graph Comparison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deterministic, LLM-free graph matcher — no model calls, fully reproducible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640080" y="187452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68680" y="210312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868680" y="265176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|Vₛ ∩ Vₑ| / |Vₑ|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868680" y="3520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expert-graph concepts the student mentioned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43400" y="187452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4572000" y="210312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0" y="265176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|correct edges| / |Eₛ|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572000" y="3520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stated relationships that are correct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187452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275320" y="210312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275320" y="265176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|connected nodes| / |Vₛ|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8275320" y="3520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structurally connected the student's graph is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40080" y="47091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interpretable diagnostics: missing concepts, incorrect relationships, and per-answer feedback points surfaced directly to the student.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Reasoning Mapping (TRM)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subgraph matching — not NP-hard subgraph isomorphism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640080" y="187452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68680" y="2075688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868680" y="23774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Alignment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68680" y="310896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concept matched to its nearest expert concept via BERT cosine similarity, threshold 0.70.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43400" y="187452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4572000" y="2075688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0" y="23774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Matching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72000" y="310896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edge scored against the expert graph: 1.0 full match, 0.5 partial, 0.0 no match.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187452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275320" y="2075688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275320" y="23774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Confidence Weighting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8275320" y="310896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matched concept weighted 1.0 if grounded in the answer text, 0.3 if it looks hallucinated.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0080" y="48463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/>
        </p:spPr>
      </p:sp>
      <p:sp>
        <p:nvSpPr>
          <p:cNvPr id="19" name="Text 15"/>
          <p:cNvSpPr/>
          <p:nvPr/>
        </p:nvSpPr>
        <p:spPr>
          <a:xfrm>
            <a:off x="914400" y="484632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O(|Vₛ|·|Vₑ| + |Eₛ|·|Eₑ|)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polynomial, not NP-complete. ~2.3 seconds per answer on a standard CPU at batch scale.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3 &amp; 4 — Depth &amp; Misconceptions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40080" y="141732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91640"/>
            <a:ext cx="640080" cy="64008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691640" y="17373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Cognitive Depth</a:t>
            </a:r>
            <a:endParaRPr lang="en-US" sz="1500" dirty="0"/>
          </a:p>
        </p:txBody>
      </p:sp>
      <p:sp>
        <p:nvSpPr>
          <p:cNvPr id="8" name="Text 3"/>
          <p:cNvSpPr/>
          <p:nvPr/>
        </p:nvSpPr>
        <p:spPr>
          <a:xfrm>
            <a:off x="914400" y="25603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classifier jointly assigns: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1097280" y="29260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Bloom's level (1–6): Remember → Create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1097280" y="32918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SOLO level (1–5): structural complexity of the response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914400" y="4023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= 0.55·blooms_norm + 0.45·solo_norm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914400" y="466344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has received far less attention than Bloom's in automated CS assessment — ConceptGrade applies both jointly.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72200" y="141732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22376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4: Misconception Detection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6446520" y="25603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16-entry validated error taxonomy is checked against every response.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446520" y="3246120"/>
            <a:ext cx="4937760" cy="1051560"/>
          </a:xfrm>
          <a:prstGeom prst="roundRect">
            <a:avLst>
              <a:gd name="adj" fmla="val 5217"/>
            </a:avLst>
          </a:prstGeom>
          <a:solidFill>
            <a:srgbClr val="9DC3E7"/>
          </a:solidFill>
          <a:ln/>
        </p:spPr>
      </p:sp>
      <p:sp>
        <p:nvSpPr>
          <p:cNvPr id="18" name="Text 12"/>
          <p:cNvSpPr/>
          <p:nvPr/>
        </p:nvSpPr>
        <p:spPr>
          <a:xfrm>
            <a:off x="6629400" y="3383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DS-STACK-01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629400" y="3703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Confuses LIFO with FIFO ordering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6446520" y="45262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carries a severity level and a remediation hint surfaced directly to the student — not just “wrong.”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Score Synthesis &amp; Verification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40080" y="1417320"/>
            <a:ext cx="10881360" cy="1874520"/>
          </a:xfrm>
          <a:prstGeom prst="roundRect">
            <a:avLst>
              <a:gd name="adj" fmla="val 4878"/>
            </a:avLst>
          </a:prstGeom>
          <a:solidFill>
            <a:srgbClr val="1B2A4A"/>
          </a:solidFill>
          <a:ln/>
        </p:spPr>
      </p:sp>
      <p:sp>
        <p:nvSpPr>
          <p:cNvPr id="6" name="Text 2"/>
          <p:cNvSpPr/>
          <p:nvPr/>
        </p:nvSpPr>
        <p:spPr>
          <a:xfrm>
            <a:off x="1005840" y="164592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= 0.45·cov + 0.35·acc + 0.20·int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1005840" y="21305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s_kg = (0.60·knowledge + 0.40·depth) × (1 − p_misc)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005840" y="260604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= (1 − w)·s_kg + w·verified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98080" y="26060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1.0 (deployed)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0080" y="3566160"/>
            <a:ext cx="6675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Verifier independently reviews the raw answer alongside the KG evidence and produces the final grade.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4480560"/>
            <a:ext cx="6675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914400" y="4617720"/>
            <a:ext cx="6126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deployed weight, the Verifier's judgment drives the score — KG evidence is prompt context, not an arithmetic anchor. Is that an accident of tuning? Seminar 2 answers this with cross-validation.</a:t>
            </a:r>
            <a:endParaRPr lang="en-US" sz="12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863840" y="3520440"/>
            <a:ext cx="329184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Expert Domain Knowledge Graph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 domain — frozen before evaluation began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640080" y="182880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640080" y="196596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640080" y="288036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251960" y="182880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251960" y="196596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4251960" y="288036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relationships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863840" y="182880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863840" y="196596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7863840" y="288036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03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types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3840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rules: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0080" y="4370832"/>
            <a:ext cx="109728" cy="10972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3"/>
          <p:cNvSpPr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Pedagogical coverage — every concept in a standard intro course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4754880"/>
            <a:ext cx="109728" cy="10972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9" name="Text 15"/>
          <p:cNvSpPr/>
          <p:nvPr/>
        </p:nvSpPr>
        <p:spPr>
          <a:xfrm>
            <a:off x="914400" y="468172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identifiers — unique ID plus alias surface forms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" y="5138928"/>
            <a:ext cx="109728" cy="10972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7"/>
          <p:cNvSpPr/>
          <p:nvPr/>
        </p:nvSpPr>
        <p:spPr>
          <a:xfrm>
            <a:off x="914400" y="50657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relationships — semantically labeled directed edges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Student Actually Sees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score — a structured, actionable explanation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640080" y="18745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4A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914400" y="18745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/ missing concepts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389120" y="18745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mentioned stack and lifo, but missed push_operation and pop_operation.”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" y="28346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4A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834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relationships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389120" y="283464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“Stack uses FIFO is incorrect.”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3794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914400" y="3794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Bloom's / SOLO level with justification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389120" y="379476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depth, not just correctness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0080" y="47548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914400" y="47548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Misconception + remediation hint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389120" y="475488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“DS-STACK-01: A stack uses LIFO, not FIFO. Review the push/pop mechanism.”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KG and misconception taxonomy carry this information cost at authoring time — not inference time.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Limitations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40080" y="17373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B2A4A"/>
          </a:solidFill>
          <a:ln/>
        </p:spPr>
      </p:sp>
      <p:sp>
        <p:nvSpPr>
          <p:cNvPr id="6" name="Text 2"/>
          <p:cNvSpPr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model family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914400" y="2267712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 uses gemini-2.5-flash. No cross-model validation yet.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B2A4A"/>
          </a:solidFill>
          <a:ln/>
        </p:spPr>
      </p:sp>
      <p:sp>
        <p:nvSpPr>
          <p:cNvPr id="9" name="Text 5"/>
          <p:cNvSpPr/>
          <p:nvPr/>
        </p:nvSpPr>
        <p:spPr>
          <a:xfrm>
            <a:off x="914400" y="32461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Single-author KG &amp; taxonomy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914400" y="3639312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concepts, 16 misconceptions, one research group. Machine-IRR pilot: κ = 0.54 (moderate) — a lower-bound self-estimate, not external validation.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44805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B2A4A"/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specificity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914400" y="5010912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expert KG covers Data Structures only. Cross-domain evaluation on other CS areas is future work.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disclosed up front — not discovered by a reader. Seminar 3 covers a deeper class of limitation found during the project's own audit.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9D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rahmajikatragadda-Desktop-PHD-NodeGrade/b7a79f34-9904-4a09-9f4e-68c4de20919b/scratchpad/seminars/template_assets/logo_icfai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"/>
            <a:ext cx="2715768" cy="530352"/>
          </a:xfrm>
          <a:prstGeom prst="rect">
            <a:avLst/>
          </a:prstGeom>
        </p:spPr>
      </p:pic>
      <p:pic>
        <p:nvPicPr>
          <p:cNvPr id="3" name="Image 1" descr="/private/tmp/claude-501/-Users-brahmajikatragadda-Desktop-PHD-NodeGrade/b7a79f34-9904-4a09-9f4e-68c4de20919b/scratchpad/seminars/template_assets/logo_icfai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0" y="54864"/>
            <a:ext cx="1444752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621792"/>
            <a:ext cx="10908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in Seminar 2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731520" y="1417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Evaluation: What Actually Works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731520" y="2148840"/>
            <a:ext cx="10149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4A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1005840" y="214884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Does ConceptGrade really beat a zero-shot LLM baseline?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731520" y="3017520"/>
            <a:ext cx="10149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4A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1005840" y="301752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Why does the raw KG-grounded score perform 86.9% worse than baseline — alone?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31520" y="3886200"/>
            <a:ext cx="10149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1005840" y="388620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Self-consistency looked like the strongest result in the project. What happened when we tested it fairly?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2026-07-31T10:19:10Z</dcterms:created>
  <dcterms:modified xsi:type="dcterms:W3CDTF">2026-07-31T10:19:10Z</dcterms:modified>
</cp:coreProperties>
</file>