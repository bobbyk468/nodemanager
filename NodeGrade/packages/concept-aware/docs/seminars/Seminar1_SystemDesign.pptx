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3" r:id="rId14"/>
    <p:sldId id="270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>
        <p:scale>
          <a:sx n="120" d="100"/>
          <a:sy n="120" d="100"/>
        </p:scale>
        <p:origin x="3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534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1640" y="320040"/>
            <a:ext cx="9372600" cy="2128870"/>
          </a:xfrm>
          <a:prstGeom prst="rect">
            <a:avLst/>
          </a:prstGeom>
          <a:solidFill>
            <a:srgbClr val="DEEBF7">
              <a:alpha val="8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54480" y="3200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349470"/>
            <a:ext cx="9692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ConceptGrade: A Knowledge-Graph-Driven Framework for Concept-Aware Automated Short Answer Grading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880301" y="2950780"/>
            <a:ext cx="9052560" cy="502920"/>
          </a:xfrm>
          <a:prstGeom prst="rect">
            <a:avLst/>
          </a:prstGeom>
          <a:solidFill>
            <a:srgbClr val="DEEBF7">
              <a:alpha val="8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97180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Architecture &amp; System Design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10235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46451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50292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CF2F5CDD-964B-AA55-6D71-360081B4507D}"/>
              </a:ext>
            </a:extLst>
          </p:cNvPr>
          <p:cNvSpPr txBox="1">
            <a:spLocks/>
          </p:cNvSpPr>
          <p:nvPr/>
        </p:nvSpPr>
        <p:spPr>
          <a:xfrm>
            <a:off x="7175938" y="4221015"/>
            <a:ext cx="4645573" cy="172063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8100000" scaled="1"/>
            <a:tileRect/>
          </a:gra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DAC Committee</a:t>
            </a:r>
            <a:b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Sandeep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Panda</a:t>
            </a:r>
          </a:p>
          <a:p>
            <a:pPr algn="l"/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P. Pavan Kumar</a:t>
            </a:r>
            <a:b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Kongara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Srinivasa Rao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776355BB-1C14-8123-ED07-A8C9C8F099A1}"/>
              </a:ext>
            </a:extLst>
          </p:cNvPr>
          <p:cNvSpPr txBox="1">
            <a:spLocks/>
          </p:cNvSpPr>
          <p:nvPr/>
        </p:nvSpPr>
        <p:spPr>
          <a:xfrm>
            <a:off x="1305043" y="4926167"/>
            <a:ext cx="4044197" cy="48708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8100000" scaled="1"/>
            <a:tileRect/>
          </a:gra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1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Katragadda</a:t>
            </a:r>
            <a:r>
              <a:rPr lang="en-US" sz="31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Brahmaji</a:t>
            </a:r>
            <a:endParaRPr lang="en-US" sz="31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short-answer questions at scale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234440" y="18928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inconsistent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234440" y="23774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grading of CS short-answers doesn't scale to large classes, and delays feedback to students.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34440" y="32644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without explanation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234440" y="37490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lexical, embedding, and LLM zero-shot graders output a number — not which concepts were understood.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234440" y="46360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misconceptions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234440" y="5120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 alone can't tell an instructor whether a student confused LIFO with FIFO, or never engaged with the concept.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126480" y="187452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B2A4A">
                <a:alpha val="15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19456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15200" y="22585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ConceptGrade's Premise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492240" y="30175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grading as a knowledge-graph matching task: convert each free-text answer into a typed concept graph, and compare it against an expert domain graph.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92240" y="43434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yields an explicit, inspectable record of what a student did and didn't demonstrate — not just a score.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Prior Approaches Miss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1396823" y="141732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1561415" y="160020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LSA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(Mohler &amp; Mihalcea)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561415" y="246888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0.493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561415" y="3063240"/>
            <a:ext cx="23042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overlap only — no concept structure</a:t>
            </a:r>
            <a:endParaRPr lang="en-US" sz="1100" dirty="0"/>
          </a:p>
          <a:p>
            <a:pPr marL="0" indent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950" i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Mohler &amp; Mihalcea, EACL 2009  [1]</a:t>
            </a:r>
            <a:endParaRPr lang="en-US" sz="950" i="1" dirty="0"/>
          </a:p>
        </p:txBody>
      </p:sp>
      <p:sp>
        <p:nvSpPr>
          <p:cNvPr id="9" name="Shape 5"/>
          <p:cNvSpPr/>
          <p:nvPr/>
        </p:nvSpPr>
        <p:spPr>
          <a:xfrm>
            <a:off x="4959829" y="141732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124421" y="160020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(Mohler et al. 2011)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124421" y="246888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0.518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124421" y="3063240"/>
            <a:ext cx="23042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alignment, still no explicit KG</a:t>
            </a:r>
            <a:endParaRPr lang="en-US" sz="1100" dirty="0"/>
          </a:p>
          <a:p>
            <a:pPr marL="0" indent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950" i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Mohler et al., ACL 2011  [2]</a:t>
            </a:r>
            <a:endParaRPr lang="en-US" sz="950" i="1" dirty="0"/>
          </a:p>
        </p:txBody>
      </p:sp>
      <p:sp>
        <p:nvSpPr>
          <p:cNvPr id="17" name="Shape 13"/>
          <p:cNvSpPr/>
          <p:nvPr/>
        </p:nvSpPr>
        <p:spPr>
          <a:xfrm>
            <a:off x="8291612" y="141732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456204" y="160020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Zero-Shot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(C_LLM baseline)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456204" y="246888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8456204" y="3063240"/>
            <a:ext cx="23042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conceptual record kept</a:t>
            </a:r>
            <a:endParaRPr lang="en-US" sz="1100" dirty="0"/>
          </a:p>
          <a:p>
            <a:pPr marL="0" indent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950" i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baseline</a:t>
            </a:r>
            <a:endParaRPr lang="en-US" sz="950" i="1" dirty="0"/>
          </a:p>
        </p:txBody>
      </p:sp>
      <p:sp>
        <p:nvSpPr>
          <p:cNvPr id="21" name="Shape 17"/>
          <p:cNvSpPr/>
          <p:nvPr/>
        </p:nvSpPr>
        <p:spPr>
          <a:xfrm>
            <a:off x="640080" y="4389120"/>
            <a:ext cx="10863072" cy="1417320"/>
          </a:xfrm>
          <a:prstGeom prst="roundRect">
            <a:avLst>
              <a:gd name="adj" fmla="val 6452"/>
            </a:avLst>
          </a:prstGeom>
          <a:solidFill>
            <a:srgbClr val="1B2A4A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45152"/>
            <a:ext cx="914400" cy="9144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103120" y="4572000"/>
            <a:ext cx="8595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ConceptGrade extends concept-map assessment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where students draw node-link diagrams graded against an expert map — to free-text answers, by inferring an equivalent graph automatically via LLM extraction.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0080" y="59436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Pearson correlation between the automated score and a human grader’s score (0 = no relationship, 1 = perfect agreement). All sources above were checked directly against their original publications — full citations on the References slide.</a:t>
            </a:r>
            <a:endParaRPr lang="en-US" sz="12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question + student answer in → score + explanation out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640080" y="1920240"/>
            <a:ext cx="1883664" cy="2514600"/>
          </a:xfrm>
          <a:prstGeom prst="roundRect">
            <a:avLst>
              <a:gd name="adj" fmla="val 3883"/>
            </a:avLst>
          </a:prstGeom>
          <a:solidFill>
            <a:srgbClr val="1B2A4A"/>
          </a:solidFill>
          <a:ln w="19050">
            <a:solidFill>
              <a:srgbClr val="6BAED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202996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77240" y="2450592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3291840"/>
            <a:ext cx="16093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(gemini-2.5-flash), 3× self-consistency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523744" y="3031236"/>
            <a:ext cx="365760" cy="292608"/>
          </a:xfrm>
          <a:prstGeom prst="rightArrow">
            <a:avLst/>
          </a:prstGeom>
          <a:solidFill>
            <a:srgbClr val="6BAED6"/>
          </a:solidFill>
          <a:ln/>
        </p:spPr>
      </p:sp>
      <p:sp>
        <p:nvSpPr>
          <p:cNvPr id="11" name="Shape 7"/>
          <p:cNvSpPr/>
          <p:nvPr/>
        </p:nvSpPr>
        <p:spPr>
          <a:xfrm>
            <a:off x="2889504" y="1920240"/>
            <a:ext cx="1883664" cy="2514600"/>
          </a:xfrm>
          <a:prstGeom prst="roundRect">
            <a:avLst>
              <a:gd name="adj" fmla="val 3883"/>
            </a:avLst>
          </a:prstGeom>
          <a:solidFill>
            <a:srgbClr val="1B2A4A"/>
          </a:solidFill>
          <a:ln w="19050">
            <a:solidFill>
              <a:srgbClr val="6BAED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026664" y="202996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026664" y="2450592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026664" y="3291840"/>
            <a:ext cx="16093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LLM-free matching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73168" y="3031236"/>
            <a:ext cx="365760" cy="292608"/>
          </a:xfrm>
          <a:prstGeom prst="rightArrow">
            <a:avLst/>
          </a:prstGeom>
          <a:solidFill>
            <a:srgbClr val="6BAED6"/>
          </a:solidFill>
          <a:ln/>
        </p:spPr>
      </p:sp>
      <p:sp>
        <p:nvSpPr>
          <p:cNvPr id="16" name="Shape 12"/>
          <p:cNvSpPr/>
          <p:nvPr/>
        </p:nvSpPr>
        <p:spPr>
          <a:xfrm>
            <a:off x="5138928" y="1920240"/>
            <a:ext cx="1883664" cy="2514600"/>
          </a:xfrm>
          <a:prstGeom prst="roundRect">
            <a:avLst>
              <a:gd name="adj" fmla="val 3883"/>
            </a:avLst>
          </a:prstGeom>
          <a:solidFill>
            <a:srgbClr val="1B2A4A"/>
          </a:solidFill>
          <a:ln w="19050">
            <a:solidFill>
              <a:srgbClr val="6BAED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76088" y="202996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276088" y="2450592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276088" y="3291840"/>
            <a:ext cx="16093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(L1–L6) + SOLO (L1–L5)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022592" y="3031236"/>
            <a:ext cx="365760" cy="292608"/>
          </a:xfrm>
          <a:prstGeom prst="rightArrow">
            <a:avLst/>
          </a:prstGeom>
          <a:solidFill>
            <a:srgbClr val="6BAED6"/>
          </a:solidFill>
          <a:ln/>
        </p:spPr>
      </p:sp>
      <p:sp>
        <p:nvSpPr>
          <p:cNvPr id="21" name="Shape 17"/>
          <p:cNvSpPr/>
          <p:nvPr/>
        </p:nvSpPr>
        <p:spPr>
          <a:xfrm>
            <a:off x="7388352" y="1920240"/>
            <a:ext cx="1883664" cy="2514600"/>
          </a:xfrm>
          <a:prstGeom prst="roundRect">
            <a:avLst>
              <a:gd name="adj" fmla="val 3883"/>
            </a:avLst>
          </a:prstGeom>
          <a:solidFill>
            <a:srgbClr val="1B2A4A"/>
          </a:solidFill>
          <a:ln w="19050">
            <a:solidFill>
              <a:srgbClr val="6BAED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525512" y="202996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7525512" y="2450592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525512" y="3291840"/>
            <a:ext cx="16093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16-entry validated taxonomy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9272016" y="3031236"/>
            <a:ext cx="365760" cy="292608"/>
          </a:xfrm>
          <a:prstGeom prst="rightArrow">
            <a:avLst/>
          </a:prstGeom>
          <a:solidFill>
            <a:srgbClr val="6BAED6"/>
          </a:solidFill>
          <a:ln/>
        </p:spPr>
      </p:sp>
      <p:sp>
        <p:nvSpPr>
          <p:cNvPr id="26" name="Shape 22"/>
          <p:cNvSpPr/>
          <p:nvPr/>
        </p:nvSpPr>
        <p:spPr>
          <a:xfrm>
            <a:off x="9637776" y="1920240"/>
            <a:ext cx="1883664" cy="2514600"/>
          </a:xfrm>
          <a:prstGeom prst="roundRect">
            <a:avLst>
              <a:gd name="adj" fmla="val 3883"/>
            </a:avLst>
          </a:prstGeom>
          <a:solidFill>
            <a:srgbClr val="1B2A4A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774936" y="202996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9774936" y="2450592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Synthesis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Verifier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9774936" y="3291840"/>
            <a:ext cx="16093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→ LLM Verifier, w = 1.0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40080" y="457200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Student Answer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9637776" y="457200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Explanation</a:t>
            </a:r>
            <a:endParaRPr lang="en-US" sz="1000" dirty="0"/>
          </a:p>
        </p:txBody>
      </p:sp>
      <p:sp>
        <p:nvSpPr>
          <p:cNvPr id="32" name="Shape WorkedExample"/>
          <p:cNvSpPr/>
          <p:nvPr/>
        </p:nvSpPr>
        <p:spPr>
          <a:xfrm>
            <a:off x="640080" y="5029200"/>
            <a:ext cx="10908792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3" name="Text WorkedExampleLabel"/>
          <p:cNvSpPr/>
          <p:nvPr/>
        </p:nvSpPr>
        <p:spPr>
          <a:xfrm>
            <a:off x="914400" y="51663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ONE REAL ANSWER THROUGH ALL FIVE LAYERS</a:t>
            </a:r>
            <a:endParaRPr lang="en-US" sz="1200" b="1" dirty="0"/>
          </a:p>
        </p:txBody>
      </p:sp>
      <p:sp>
        <p:nvSpPr>
          <p:cNvPr id="34" name="Text WorkedExampleBody"/>
          <p:cNvSpPr/>
          <p:nvPr/>
        </p:nvSpPr>
        <p:spPr>
          <a:xfrm>
            <a:off x="914400" y="550545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answer stating a stack uses “FIFO order” moves through all five layers: Layer 1 extracts 8 concepts, including the stated FIFO claim • Layer 2 finds the ordering relationship incorrect • Layer 4 flags a critical LIFO/FIFO misconception • Layer 5 returns a final score of </a:t>
            </a:r>
            <a:r>
              <a:rPr lang="en-US" sz="1250" b="1" dirty="0">
                <a:solidFill>
                  <a:srgbClr val="1B2A4A"/>
                </a:solidFill>
                <a:latin typeface="Calibri" pitchFamily="34" charset="0"/>
              </a:rPr>
              <a:t>0.75 / 5</a:t>
            </a:r>
            <a:r>
              <a:rPr lang="en-US" sz="1250" dirty="0">
                <a:solidFill>
                  <a:srgbClr val="203040"/>
                </a:solidFill>
                <a:latin typeface="Calibri" pitchFamily="34" charset="0"/>
              </a:rPr>
              <a:t> — lower than the </a:t>
            </a:r>
            <a:r>
              <a:rPr lang="en-US" sz="1250" b="1" dirty="0">
                <a:solidFill>
                  <a:srgbClr val="FF0000"/>
                </a:solidFill>
                <a:latin typeface="Calibri" pitchFamily="34" charset="0"/>
              </a:rPr>
              <a:t>1.00 / 5</a:t>
            </a:r>
            <a:r>
              <a:rPr lang="en-US" sz="1250" dirty="0">
                <a:solidFill>
                  <a:srgbClr val="203040"/>
                </a:solidFill>
                <a:latin typeface="Calibri" pitchFamily="34" charset="0"/>
              </a:rPr>
              <a:t> a plain LLM gave the same answer, unaided by any of the above.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Application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node-graph editor is the real, running NodeGrade platform — not a mockup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51560" y="1828800"/>
            <a:ext cx="10058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5000"/>
              </a:srgbClr>
            </a:outerShdw>
          </a:effectLst>
        </p:spPr>
      </p:sp>
      <p:pic>
        <p:nvPicPr>
          <p:cNvPr id="7" name="Image 2" descr="/private/tmp/claude-501/-Users-brahmajikatragadda-Desktop-PHD-NodeGrade/b7a79f34-9904-4a09-9f4e-68c4de20919b/scratchpad/seminars/screenshots/pipeline_crop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43000" y="1920240"/>
            <a:ext cx="9875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 — A Real Graded Answer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live to the running system: “A stack is a data structure that uses FIFO order...”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548640" y="1828800"/>
            <a:ext cx="553212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5000"/>
              </a:srgbClr>
            </a:outerShdw>
          </a:effectLst>
        </p:spPr>
      </p:sp>
      <p:pic>
        <p:nvPicPr>
          <p:cNvPr id="7" name="Image 2" descr="/private/tmp/claude-501/-Users-brahmajikatragadda-Desktop-PHD-NodeGrade/b7a79f34-9904-4a09-9f4e-68c4de20919b/scratchpad/seminars/screenshots/graded-top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080" y="1920240"/>
            <a:ext cx="5349240" cy="44805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172200" y="182880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5000"/>
              </a:srgbClr>
            </a:outerShdw>
          </a:effectLst>
        </p:spPr>
      </p:sp>
      <p:pic>
        <p:nvPicPr>
          <p:cNvPr id="9" name="Image 3" descr="/private/tmp/claude-501/-Users-brahmajikatragadda-Desktop-PHD-NodeGrade/b7a79f34-9904-4a09-9f4e-68c4de20919b/scratchpad/seminars/screenshots/graded-misconceptions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63640" y="192024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Concept Extraction</a:t>
            </a:r>
            <a:endParaRPr lang="en-US" sz="30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63040"/>
            <a:ext cx="731520" cy="7315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645920" y="14630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receives the question and student answer and returns a typed student concept graph </a:t>
            </a:r>
            <a:r>
              <a:rPr lang="en-US" sz="13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Gₛ = (Vₛ, Eₛ)</a:t>
            </a: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run with 3× self-consistency (majority-vote, min_votes = 2/3) to reduce single-call extraction noise.</a:t>
            </a:r>
            <a:endParaRPr lang="en-US" sz="1350" dirty="0"/>
          </a:p>
        </p:txBody>
      </p:sp>
      <p:sp>
        <p:nvSpPr>
          <p:cNvPr id="7" name="Text 2"/>
          <p:cNvSpPr/>
          <p:nvPr/>
        </p:nvSpPr>
        <p:spPr>
          <a:xfrm>
            <a:off x="1645920" y="32461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below confidence τ = 0.70 are filtered; surface forms resolve to canonical KG identifiers via alias lookup.</a:t>
            </a:r>
            <a:endParaRPr lang="en-US" sz="1250" dirty="0"/>
          </a:p>
        </p:txBody>
      </p:sp>
      <p:sp>
        <p:nvSpPr>
          <p:cNvPr id="8" name="Shape 3"/>
          <p:cNvSpPr/>
          <p:nvPr/>
        </p:nvSpPr>
        <p:spPr>
          <a:xfrm>
            <a:off x="6949440" y="1417320"/>
            <a:ext cx="4401732" cy="2099208"/>
          </a:xfrm>
          <a:prstGeom prst="roundRect">
            <a:avLst>
              <a:gd name="adj" fmla="val 2198"/>
            </a:avLst>
          </a:prstGeom>
          <a:solidFill>
            <a:srgbClr val="1B2A4A"/>
          </a:solidFill>
          <a:ln/>
        </p:spPr>
      </p:sp>
      <p:sp>
        <p:nvSpPr>
          <p:cNvPr id="9" name="Text 4"/>
          <p:cNvSpPr/>
          <p:nvPr/>
        </p:nvSpPr>
        <p:spPr>
          <a:xfrm>
            <a:off x="7223760" y="1645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Question-focused ontology matching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7223760" y="21488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matcher builds a focused ~10–20-concept ontology subset for the LLM prompt, instead of always supplying the full 101-concept KG.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223760" y="5120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7" name="Text NotationNote"/>
          <p:cNvSpPr/>
          <p:nvPr/>
        </p:nvSpPr>
        <p:spPr>
          <a:xfrm>
            <a:off x="640080" y="6150000"/>
            <a:ext cx="10908792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note: Gₛ = (Vₛ, Eₛ) is standard graph notation — G is a graph, V is its set of concepts (nodes), E is its set of relationships between concepts (edges). The subscript s marks this as the student’s graph, compared in Layer 2 against the expert’s graph, Gₑ.</a:t>
            </a:r>
            <a:endParaRPr lang="en-US" sz="115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Knowledge Graph Comparison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LLM-free graph matcher — no model calls, fully reproducible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640080" y="1874520"/>
            <a:ext cx="35204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68680" y="21031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68680" y="26517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|Vₛ ∩ Vₑ| / |Vₑ|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68680" y="3520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expert-graph concepts the student mentioned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43400" y="1874520"/>
            <a:ext cx="35204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0" y="21031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0" y="26517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|correct edges| / |Eₛ|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72000" y="3520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stated relationships that are correct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5204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275320" y="21031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275320" y="26517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|connected nodes| / |Vₛ|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275320" y="3520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structurally connected the student's graph is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interpretable diagnostics: missing concepts, incorrect relationships, and per-answer feedback points surfaced directly to the student.</a:t>
            </a:r>
            <a:endParaRPr lang="en-US" sz="1300" dirty="0"/>
          </a:p>
        </p:txBody>
      </p:sp>
      <p:sp>
        <p:nvSpPr>
          <p:cNvPr id="98" name="Text NotationNote"/>
          <p:cNvSpPr/>
          <p:nvPr/>
        </p:nvSpPr>
        <p:spPr>
          <a:xfrm>
            <a:off x="640080" y="6150000"/>
            <a:ext cx="10908792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note: |X| means “the count of X”; ∩ means “the overlap between two sets.” So |Vₛ ∩ Vₑ| / |Vₑ| reads as: the concepts the student and the expert both have, divided by the total number of expert concepts.</a:t>
            </a:r>
            <a:endParaRPr lang="en-US" sz="1150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3 &amp; 4 — Depth &amp; Misconceptions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41732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691640"/>
            <a:ext cx="640080" cy="6400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9164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Cognitive Depth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914400" y="2560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classifier jointly assigns: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1097280" y="2926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Bloom's level (1–6): Remember → Create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1097280" y="3291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SOLO level (1–5): structural complexity of the response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91440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= 0.55·blooms_norm + 0.45·solo_norm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914400" y="46634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has received far less attention than Bloom's in automated CS assessment — ConceptGrade applies both jointly.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172200" y="14173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69164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23760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Misconception Detection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446520" y="2560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16-entry validated error taxonomy is checked against every response.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46520" y="3246120"/>
            <a:ext cx="4937760" cy="1051560"/>
          </a:xfrm>
          <a:prstGeom prst="roundRect">
            <a:avLst>
              <a:gd name="adj" fmla="val 5217"/>
            </a:avLst>
          </a:prstGeom>
          <a:solidFill>
            <a:srgbClr val="9DC3E7"/>
          </a:solidFill>
          <a:ln/>
        </p:spPr>
      </p:sp>
      <p:sp>
        <p:nvSpPr>
          <p:cNvPr id="18" name="Text 12"/>
          <p:cNvSpPr/>
          <p:nvPr/>
        </p:nvSpPr>
        <p:spPr>
          <a:xfrm>
            <a:off x="662940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DS-STACK-01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62940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Confuses LIFO with FIFO ordering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446520" y="45262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carries a severity level and a remediation hint surfaced directly to the student — not just “wrong.”</a:t>
            </a:r>
            <a:endParaRPr lang="en-US" sz="1150" dirty="0"/>
          </a:p>
        </p:txBody>
      </p:sp>
      <p:sp>
        <p:nvSpPr>
          <p:cNvPr id="100" name="Text NotationNote"/>
          <p:cNvSpPr/>
          <p:nvPr/>
        </p:nvSpPr>
        <p:spPr>
          <a:xfrm>
            <a:off x="640080" y="5550000"/>
            <a:ext cx="10908792" cy="12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note: “_norm” means the raw Bloom’s/SOLO level converted onto a 0–1 scale first, so the two different scales (1–6 and 1–5) can be combined fairly in one weighted average.</a:t>
            </a:r>
            <a:endParaRPr lang="en-US" sz="1150" i="1" dirty="0"/>
          </a:p>
          <a:p>
            <a:pPr marL="0" indent="0">
              <a:lnSpc>
                <a:spcPct val="118000"/>
              </a:lnSpc>
              <a:spcBef>
                <a:spcPts val="600"/>
              </a:spcBef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Bloom’s (1–6): Remember → Understand → Apply → Analyze → Evaluate → Create — what kind of thinking the answer shows.</a:t>
            </a:r>
            <a:endParaRPr lang="en-US" sz="1150" i="1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(1–5): Prestructural → Unistructural → Multistructural → Relational → Extended Abstract — how structurally connected the answer is.</a:t>
            </a:r>
            <a:endParaRPr lang="en-US" sz="1150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Score Synthesis &amp; Verification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417320"/>
            <a:ext cx="10881360" cy="1874520"/>
          </a:xfrm>
          <a:prstGeom prst="roundRect">
            <a:avLst>
              <a:gd name="adj" fmla="val 4878"/>
            </a:avLst>
          </a:prstGeom>
          <a:solidFill>
            <a:srgbClr val="1B2A4A"/>
          </a:solidFill>
          <a:ln/>
        </p:spPr>
      </p:sp>
      <p:sp>
        <p:nvSpPr>
          <p:cNvPr id="6" name="Text 2"/>
          <p:cNvSpPr/>
          <p:nvPr/>
        </p:nvSpPr>
        <p:spPr>
          <a:xfrm>
            <a:off x="1005840" y="16459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= 0.45·cov + 0.35·acc + 0.20·int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05840" y="213055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s_kg = (0.60·knowledge + 0.40·depth) × (1 − p_misc)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05840" y="26060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= (1 − w)·s_kg + w·verified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49808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1.0 (deployed)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0080" y="356616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Verifier independently reviews the raw answer alongside the KG evidence and produces the final grade.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4480560"/>
            <a:ext cx="6675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914400" y="4617720"/>
            <a:ext cx="612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deployed weight, the Verifier's judgment drives the score — KG evidence is prompt context, not an arithmetic anchor. Is that an accident of tuning? Seminar 2 answers this with cross-validation.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7863840" y="3520440"/>
            <a:ext cx="3291840" cy="3291840"/>
          </a:xfrm>
          <a:prstGeom prst="rect">
            <a:avLst/>
          </a:prstGeom>
        </p:spPr>
      </p:pic>
      <p:sp>
        <p:nvSpPr>
          <p:cNvPr id="101" name="Text NotationNote"/>
          <p:cNvSpPr/>
          <p:nvPr/>
        </p:nvSpPr>
        <p:spPr>
          <a:xfrm>
            <a:off x="640080" y="6150000"/>
            <a:ext cx="70000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note: cov/acc/int are the Layer 2 scores; depth is the Layer 3 score; p_misc is a penalty from Layer 4’s misconceptions; w controls how much weight the Verifier gets versus the formula above it. Every term is a number between 0 and 1.</a:t>
            </a:r>
            <a:endParaRPr lang="en-US" sz="1150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 Domain Knowledge Graph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domain — frozen before evaluation began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640080" y="18288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" y="19659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640080" y="28803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251960" y="18288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251960" y="19659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4251960" y="28803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relationships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863840" y="18288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863840" y="19659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7863840" y="28803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types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rules: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" y="4370832"/>
            <a:ext cx="109728" cy="109728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7" name="Text 13"/>
          <p:cNvSpPr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coverage — every concept in a standard intro course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4754880"/>
            <a:ext cx="109728" cy="109728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9" name="Text 15"/>
          <p:cNvSpPr/>
          <p:nvPr/>
        </p:nvSpPr>
        <p:spPr>
          <a:xfrm>
            <a:off x="914400" y="46817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identifiers — unique ID plus alias surface forms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0080" y="5138928"/>
            <a:ext cx="109728" cy="109728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1" name="Text 17"/>
          <p:cNvSpPr/>
          <p:nvPr/>
        </p:nvSpPr>
        <p:spPr>
          <a:xfrm>
            <a:off x="914400" y="506577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relationships — semantically labeled directed edges</a:t>
            </a:r>
            <a:endParaRPr lang="en-US" sz="1300" dirty="0"/>
          </a:p>
        </p:txBody>
      </p:sp>
      <p:sp>
        <p:nvSpPr>
          <p:cNvPr id="60" name="Text KGExamplesLabel"/>
          <p:cNvSpPr/>
          <p:nvPr/>
        </p:nvSpPr>
        <p:spPr>
          <a:xfrm>
            <a:off x="640080" y="55606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0000"/>
                </a:solidFill>
                <a:latin typeface="Calibri" pitchFamily="34" charset="0"/>
              </a:rPr>
              <a:t>THE EIGHT SEMANTIC TYPES, WITH EXAMPLES</a:t>
            </a:r>
          </a:p>
        </p:txBody>
      </p:sp>
      <p:sp>
        <p:nvSpPr>
          <p:cNvPr id="61" name="Text KGExamples61"/>
          <p:cNvSpPr/>
          <p:nvPr/>
        </p:nvSpPr>
        <p:spPr>
          <a:xfrm>
            <a:off x="640080" y="5943600"/>
            <a:ext cx="2681424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A1B2E"/>
                </a:solidFill>
                <a:latin typeface="Calibri" pitchFamily="34" charset="0"/>
              </a:rPr>
              <a:t>Data Structure (27)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3040"/>
                </a:solidFill>
                <a:latin typeface="Calibri" pitchFamily="34" charset="0"/>
              </a:rPr>
              <a:t>array, linked_list, binary_tree</a:t>
            </a:r>
          </a:p>
          <a:p>
            <a:pPr marL="0" indent="0">
              <a:lnSpc>
                <a:spcPct val="110000"/>
              </a:lnSpc>
              <a:spcBef>
                <a:spcPts val="500"/>
              </a:spcBef>
              <a:buNone/>
            </a:pPr>
            <a:r>
              <a:rPr lang="en-US" sz="1050" b="1" dirty="0">
                <a:solidFill>
                  <a:srgbClr val="7A1B2E"/>
                </a:solidFill>
                <a:latin typeface="Calibri" pitchFamily="34" charset="0"/>
              </a:rPr>
              <a:t>Abstract Concept (25)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3040"/>
                </a:solidFill>
                <a:latin typeface="Calibri" pitchFamily="34" charset="0"/>
              </a:rPr>
              <a:t>recursion, iteration, data_structure</a:t>
            </a:r>
          </a:p>
        </p:txBody>
      </p:sp>
      <p:sp>
        <p:nvSpPr>
          <p:cNvPr id="62" name="Text KGExamples62"/>
          <p:cNvSpPr/>
          <p:nvPr/>
        </p:nvSpPr>
        <p:spPr>
          <a:xfrm>
            <a:off x="3367224" y="5943600"/>
            <a:ext cx="2681424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A1B2E"/>
                </a:solidFill>
                <a:latin typeface="Calibri" pitchFamily="34" charset="0"/>
              </a:rPr>
              <a:t>Algorithm (19)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3040"/>
                </a:solidFill>
                <a:latin typeface="Calibri" pitchFamily="34" charset="0"/>
              </a:rPr>
              <a:t>tree_traversal, inorder, preorder</a:t>
            </a:r>
          </a:p>
          <a:p>
            <a:pPr marL="0" indent="0">
              <a:lnSpc>
                <a:spcPct val="110000"/>
              </a:lnSpc>
              <a:spcBef>
                <a:spcPts val="500"/>
              </a:spcBef>
              <a:buNone/>
            </a:pPr>
            <a:r>
              <a:rPr lang="en-US" sz="1050" b="1" dirty="0">
                <a:solidFill>
                  <a:srgbClr val="7A1B2E"/>
                </a:solidFill>
                <a:latin typeface="Calibri" pitchFamily="34" charset="0"/>
              </a:rPr>
              <a:t>Property (10)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3040"/>
                </a:solidFill>
                <a:latin typeface="Calibri" pitchFamily="34" charset="0"/>
              </a:rPr>
              <a:t>lifo, fifo, stack_overflow</a:t>
            </a:r>
          </a:p>
        </p:txBody>
      </p:sp>
      <p:sp>
        <p:nvSpPr>
          <p:cNvPr id="63" name="Text KGExamples63"/>
          <p:cNvSpPr/>
          <p:nvPr/>
        </p:nvSpPr>
        <p:spPr>
          <a:xfrm>
            <a:off x="6094368" y="5943600"/>
            <a:ext cx="2681424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A1B2E"/>
                </a:solidFill>
                <a:latin typeface="Calibri" pitchFamily="34" charset="0"/>
              </a:rPr>
              <a:t>Operation (9)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3040"/>
                </a:solidFill>
                <a:latin typeface="Calibri" pitchFamily="34" charset="0"/>
              </a:rPr>
              <a:t>push, pop, enqueue</a:t>
            </a:r>
          </a:p>
          <a:p>
            <a:pPr marL="0" indent="0">
              <a:lnSpc>
                <a:spcPct val="110000"/>
              </a:lnSpc>
              <a:spcBef>
                <a:spcPts val="500"/>
              </a:spcBef>
              <a:buNone/>
            </a:pPr>
            <a:r>
              <a:rPr lang="en-US" sz="1050" b="1" dirty="0">
                <a:solidFill>
                  <a:srgbClr val="7A1B2E"/>
                </a:solidFill>
                <a:latin typeface="Calibri" pitchFamily="34" charset="0"/>
              </a:rPr>
              <a:t>Complexity Class (7)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3040"/>
                </a:solidFill>
                <a:latin typeface="Calibri" pitchFamily="34" charset="0"/>
              </a:rPr>
              <a:t>O(1), O(log n), time_complexity</a:t>
            </a:r>
          </a:p>
        </p:txBody>
      </p:sp>
      <p:sp>
        <p:nvSpPr>
          <p:cNvPr id="64" name="Text KGExamples64"/>
          <p:cNvSpPr/>
          <p:nvPr/>
        </p:nvSpPr>
        <p:spPr>
          <a:xfrm>
            <a:off x="8821512" y="5943600"/>
            <a:ext cx="2681424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A1B2E"/>
                </a:solidFill>
                <a:latin typeface="Calibri" pitchFamily="34" charset="0"/>
              </a:rPr>
              <a:t>Design Pattern (3)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3040"/>
                </a:solidFill>
                <a:latin typeface="Calibri" pitchFamily="34" charset="0"/>
              </a:rPr>
              <a:t>chaining, divide_and_conquer</a:t>
            </a:r>
          </a:p>
          <a:p>
            <a:pPr marL="0" indent="0">
              <a:lnSpc>
                <a:spcPct val="110000"/>
              </a:lnSpc>
              <a:spcBef>
                <a:spcPts val="500"/>
              </a:spcBef>
              <a:buNone/>
            </a:pPr>
            <a:r>
              <a:rPr lang="en-US" sz="1050" b="1" dirty="0">
                <a:solidFill>
                  <a:srgbClr val="7A1B2E"/>
                </a:solidFill>
                <a:latin typeface="Calibri" pitchFamily="34" charset="0"/>
              </a:rPr>
              <a:t>Prog. Construct (1)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3040"/>
                </a:solidFill>
                <a:latin typeface="Calibri" pitchFamily="34" charset="0"/>
              </a:rPr>
              <a:t>pointer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Student Actually Sees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score — a structured, actionable explanation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640080" y="18745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914400" y="1874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/ missing concepts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389120" y="1874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mentioned stack and lifo, but missed push_operation and pop_operation.”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28346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14400" y="2834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relationships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89120" y="2834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“Stack uses FIFO is incorrect.”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7947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14400" y="3794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/ SOLO level with justification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389120" y="37947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depth, not just correctness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7548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14400" y="4754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 + remediation hint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389120" y="47548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“DS-STACK-01: A stack uses LIFO, not FIFO. Review the push/pop mechanism.”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KG and misconception taxonomy carry this information cost at authoring time — not inference time.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Engineering Stack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600000"/>
            <a:ext cx="10881360" cy="115000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6" name="Text 2"/>
          <p:cNvSpPr/>
          <p:nvPr/>
        </p:nvSpPr>
        <p:spPr>
          <a:xfrm>
            <a:off x="914400" y="1737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914400" y="213035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runs ConceptGrade scoring, TRM computation, and statistical analysis scripts.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40080" y="2860000"/>
            <a:ext cx="10881360" cy="115000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9" name="Text 5"/>
          <p:cNvSpPr/>
          <p:nvPr/>
        </p:nvSpPr>
        <p:spPr>
          <a:xfrm>
            <a:off x="914400" y="2997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14400" y="339035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(TypeScript) — serves the dataset, manages event logs, and handles API calls to the analysis pipeline.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4120000"/>
            <a:ext cx="10881360" cy="115000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4257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914400" y="465035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(TypeScript) — the interactive dashboard shown in the live demo (Slide 5).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6590000"/>
            <a:ext cx="1088136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Logging: every interaction is logged to JSONL with millisecond timestamps. FERPA-compliant — student answer text is never stored; only a one-way FNV-1a hash is kept, for deduplication only.</a:t>
            </a:r>
            <a:endParaRPr lang="en-US" sz="1250" dirty="0"/>
          </a:p>
        </p:txBody>
      </p:sp>
      <p:sp>
        <p:nvSpPr>
          <p:cNvPr id="15" name="Shape StackBox4"/>
          <p:cNvSpPr/>
          <p:nvPr/>
        </p:nvSpPr>
        <p:spPr>
          <a:xfrm>
            <a:off x="640080" y="5380000"/>
            <a:ext cx="10881360" cy="115000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16" name="Text StackBox4Header"/>
          <p:cNvSpPr/>
          <p:nvPr/>
        </p:nvSpPr>
        <p:spPr>
          <a:xfrm>
            <a:off x="914400" y="5517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Platform</a:t>
            </a:r>
            <a:endParaRPr lang="en-US" sz="1450" dirty="0"/>
          </a:p>
        </p:txBody>
      </p:sp>
      <p:sp>
        <p:nvSpPr>
          <p:cNvPr id="17" name="Text StackBox4Body"/>
          <p:cNvSpPr/>
          <p:nvPr/>
        </p:nvSpPr>
        <p:spPr>
          <a:xfrm>
            <a:off x="914400" y="591035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application on Slide 5 runs this exact stack — not a mockup or a separate demo build.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Limitations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6" name="Text 2"/>
          <p:cNvSpPr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 family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914400" y="226771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uses gemini-2.5-flash. No cross-model validation yet.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40080" y="31089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9" name="Text 5"/>
          <p:cNvSpPr/>
          <p:nvPr/>
        </p:nvSpPr>
        <p:spPr>
          <a:xfrm>
            <a:off x="914400" y="3246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Single-author KG &amp; taxonomy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14400" y="363931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concepts, 16 misconceptions, one research group. Machine-IRR pilot: κ = 0.54 (moderate) — a lower-bound self-estimate, not external validation.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44805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specificity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914400" y="501091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 KG covers Data Structures only. Cross-domain evaluation on other CS areas is future work.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disclosed up front — not discovered by a reader. Seminar 3 covers a deeper class of limitation found during the project's own audit.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9DC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3035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for the correlation figures cited on Slide 3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640080" y="173736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914400" y="17830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M. Mohler and R. Mihalcea, “Text-to-text semantic similarity for automatic short answer grading,” Proc. 12th Conf. European Chapter ACL (EACL), Athens, Greece, 2009, pp. 567–575.</a:t>
            </a:r>
          </a:p>
          <a:p>
            <a:pPr marL="0" indent="0">
              <a:buNone/>
            </a:pPr>
            <a:r>
              <a:rPr lang="en-US" sz="1150" i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Source of r = 0.493, Lexical / LSA box, Slide 3</a:t>
            </a:r>
            <a:endParaRPr lang="en-US" sz="1150" i="1" dirty="0">
              <a:solidFill>
                <a:srgbClr val="B3541E"/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640080" y="2652648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2698368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M. Mohler, R. Bunescu, and R. Mihalcea, “Learning to grade short answer questions using semantic similarity measures and dependency graph alignments,” Proc. 49th Ann. Meeting ACL, Portland, OR, USA, 2011, pp. 752–762.</a:t>
            </a:r>
          </a:p>
          <a:p>
            <a:pPr marL="0" indent="0">
              <a:buNone/>
            </a:pPr>
            <a:r>
              <a:rPr lang="en-US" sz="1150" i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Source of r = 0.518, Dependency Graphs box, Slide 3</a:t>
            </a:r>
            <a:endParaRPr lang="en-US" sz="1150" i="1" dirty="0">
              <a:solidFill>
                <a:srgbClr val="B3541E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0080" y="3567936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14400" y="3613656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J. Devlin, M.-W. Chang, K. Lee, and K. Toutanova, “BERT: Pre-training of deep bidirectional transformers for language understanding,” Proc. 2019 Conf. NAACL-HLT, Minneapolis, MN, USA, 2019, pp. 4171–4186.</a:t>
            </a:r>
          </a:p>
          <a:p>
            <a:pPr marL="0" indent="0">
              <a:buNone/>
            </a:pPr>
            <a:r>
              <a:rPr lang="en-US" sz="1150" i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Foundational transformer model underlying the BERT box, Slide 3</a:t>
            </a:r>
            <a:endParaRPr lang="en-US" sz="1150" i="1" dirty="0">
              <a:solidFill>
                <a:srgbClr val="B3541E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640080" y="4483224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14400" y="4528944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C. Sung, T. I. Dhamecha, S. Saha, T. Ma, V. Reddy, and R. Arora, “Pre-training BERT on domain resources for short answer grading,” Proc. 2019 Conf. EMNLP-IJCNLP, Hong Kong, China, 2019, pp. 6071–6075.</a:t>
            </a:r>
          </a:p>
          <a:p>
            <a:pPr marL="0" indent="0">
              <a:buNone/>
            </a:pPr>
            <a:r>
              <a:rPr lang="en-US" sz="1150" i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Reports an F1 gain on SemEval, not a Mohler r — corrects an earlier, unverifiable citation here</a:t>
            </a:r>
            <a:endParaRPr lang="en-US" sz="1150" i="1" dirty="0">
              <a:solidFill>
                <a:srgbClr val="B3541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1954</Words>
  <Application>Microsoft Macintosh PowerPoint</Application>
  <PresentationFormat>Widescreen</PresentationFormat>
  <Paragraphs>190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Brahmaji Katragadda</cp:lastModifiedBy>
  <cp:revision>11</cp:revision>
  <dcterms:created xsi:type="dcterms:W3CDTF">2026-07-31T10:19:10Z</dcterms:created>
  <dcterms:modified xsi:type="dcterms:W3CDTF">2026-08-12T10:23:13Z</dcterms:modified>
</cp:coreProperties>
</file>