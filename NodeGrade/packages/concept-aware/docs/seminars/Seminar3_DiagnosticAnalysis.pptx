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Knowledge-Component MAE (0–5 scale) — baseline vs. all six candidates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Knowledge MAE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00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00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000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F000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F000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F0000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Baseline
(bugs live)</c:v>
                  </c:pt>
                  <c:pt idx="1">
                    <c:v>seed_ids</c:v>
                  </c:pt>
                  <c:pt idx="2">
                    <c:v>1-hop
expanded</c:v>
                  </c:pt>
                  <c:pt idx="3">
                    <c:v>Reference-
answer</c:v>
                  </c:pt>
                  <c:pt idx="4">
                    <c:v>Exclude
coverage</c:v>
                  </c:pt>
                  <c:pt idx="5">
                    <c:v>Joint
fix</c:v>
                  </c:pt>
                  <c:pt idx="6">
                    <c:v>Neutral
prior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1.164</c:v>
                </c:pt>
                <c:pt idx="1">
                  <c:v>2.254</c:v>
                </c:pt>
                <c:pt idx="2">
                  <c:v>2.355</c:v>
                </c:pt>
                <c:pt idx="3">
                  <c:v>1.384</c:v>
                </c:pt>
                <c:pt idx="4">
                  <c:v>1.614</c:v>
                </c:pt>
                <c:pt idx="5">
                  <c:v>1.446</c:v>
                </c:pt>
                <c:pt idx="6">
                  <c:v>1.471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1B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030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0304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73736"/>
            <a:ext cx="10104120" cy="2651760"/>
          </a:xfrm>
          <a:prstGeom prst="rect">
            <a:avLst/>
          </a:prstGeom>
          <a:solidFill>
            <a:srgbClr val="DEEBF7">
              <a:alpha val="8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554480" y="32004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 3 OF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554480" y="685800"/>
            <a:ext cx="9692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Failure Analysis: Why the Raw KG Score Fails, and What Five Rounds of Rejected Fixes Taught Us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1554480" y="2971800"/>
            <a:ext cx="9052560" cy="502920"/>
          </a:xfrm>
          <a:prstGeom prst="rect">
            <a:avLst/>
          </a:prstGeom>
          <a:solidFill>
            <a:srgbClr val="DEEBF7">
              <a:alpha val="8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691640" y="2971800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3: Research Integrity &amp; the Stopping Rule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85800" y="5102352"/>
            <a:ext cx="3566160" cy="566928"/>
          </a:xfrm>
          <a:prstGeom prst="rect">
            <a:avLst/>
          </a:prstGeom>
          <a:solidFill>
            <a:srgbClr val="DEEBF7">
              <a:alpha val="88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5102352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Brahmaji Katragadda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0" y="4535424"/>
            <a:ext cx="5120640" cy="1225296"/>
          </a:xfrm>
          <a:prstGeom prst="rect">
            <a:avLst/>
          </a:prstGeom>
          <a:solidFill>
            <a:srgbClr val="DEEBF7">
              <a:alpha val="8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4645152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030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 of Computer Science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502920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030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ICFAI (IFHE), Hyderabad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9DC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brahmajikatragadda-Desktop-PHD-NodeGrade/b7a79f34-9904-4a09-9f4e-68c4de20919b/scratchpad/seminars/template_assets/logo_icfai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9144"/>
            <a:ext cx="2715768" cy="530352"/>
          </a:xfrm>
          <a:prstGeom prst="rect">
            <a:avLst/>
          </a:prstGeom>
        </p:spPr>
      </p:pic>
      <p:pic>
        <p:nvPicPr>
          <p:cNvPr id="3" name="Image 1" descr="/private/tmp/claude-501/-Users-brahmajikatragadda-Desktop-PHD-NodeGrade/b7a79f34-9904-4a09-9f4e-68c4de20919b/scratchpad/seminars/template_assets/logo_icfaite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0" y="54864"/>
            <a:ext cx="1444752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621792"/>
            <a:ext cx="109087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Level of Rigor</a:t>
            </a:r>
            <a:endParaRPr lang="en-US" sz="3000" dirty="0"/>
          </a:p>
        </p:txBody>
      </p:sp>
      <p:sp>
        <p:nvSpPr>
          <p:cNvPr id="5" name="Text 1"/>
          <p:cNvSpPr/>
          <p:nvPr/>
        </p:nvSpPr>
        <p:spPr>
          <a:xfrm>
            <a:off x="64008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already had one integrity crisis — before any of Seminars 1–2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640080" y="1874520"/>
            <a:ext cx="521208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03120"/>
            <a:ext cx="594360" cy="5943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691640" y="21488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found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914400" y="278892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0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headline number computed before this audit — including two decisive earlier experiments — ran against a hand-authored, fully synthetic 120-sample fixture, not the real Mohler et al. (2011) benchmark the paper cites.</a:t>
            </a:r>
            <a:endParaRPr lang="en-US" sz="1200" dirty="0"/>
          </a:p>
        </p:txBody>
      </p:sp>
      <p:sp>
        <p:nvSpPr>
          <p:cNvPr id="10" name="Shape 5"/>
          <p:cNvSpPr/>
          <p:nvPr/>
        </p:nvSpPr>
        <p:spPr>
          <a:xfrm>
            <a:off x="914400" y="4160520"/>
            <a:ext cx="4663440" cy="1371600"/>
          </a:xfrm>
          <a:prstGeom prst="roundRect">
            <a:avLst>
              <a:gd name="adj" fmla="val 4000"/>
            </a:avLst>
          </a:prstGeom>
          <a:solidFill>
            <a:srgbClr val="9DC3E7"/>
          </a:solidFill>
          <a:ln/>
        </p:spPr>
      </p:sp>
      <p:sp>
        <p:nvSpPr>
          <p:cNvPr id="11" name="Text 6"/>
          <p:cNvSpPr/>
          <p:nvPr/>
        </p:nvSpPr>
        <p:spPr>
          <a:xfrm>
            <a:off x="1097280" y="42976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loader's own docstring said so: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1097280" y="461772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F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“a sample subset for testing (embedded)” / “synthetic generation for evaluation pipeline testing.”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6172200" y="1874520"/>
            <a:ext cx="5349240" cy="3794760"/>
          </a:xfrm>
          <a:prstGeom prst="roundRect">
            <a:avLst>
              <a:gd name="adj" fmla="val 2410"/>
            </a:avLst>
          </a:prstGeom>
          <a:solidFill>
            <a:srgbClr val="1B2A4A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2103120"/>
            <a:ext cx="548640" cy="5486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178040" y="213055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was resolved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6446520" y="274320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against the real dataset on HuggingFace (nkazi/MohlerASAG, CC-BY-4.0) — a completely different format and content, no ambiguity. Every result in this project was then rebuilt on the real data.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6446520" y="4160520"/>
            <a:ext cx="4754880" cy="0"/>
          </a:xfrm>
          <a:prstGeom prst="line">
            <a:avLst/>
          </a:prstGeom>
          <a:noFill/>
          <a:ln w="12700">
            <a:solidFill>
              <a:srgbClr val="6BAED6"/>
            </a:solidFill>
            <a:prstDash val="dash"/>
          </a:ln>
        </p:spPr>
      </p:sp>
      <p:sp>
        <p:nvSpPr>
          <p:cNvPr id="18" name="Text 12"/>
          <p:cNvSpPr/>
          <p:nvPr/>
        </p:nvSpPr>
        <p:spPr>
          <a:xfrm>
            <a:off x="6446520" y="427024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Retracted, not deleted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446520" y="461772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Fabricated sections are kept in the paper, clearly labeled “Retracted,” for the experimental-design record — not silently removed.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9DC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brahmajikatragadda-Desktop-PHD-NodeGrade/b7a79f34-9904-4a09-9f4e-68c4de20919b/scratchpad/seminars/template_assets/logo_icfai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9144"/>
            <a:ext cx="2715768" cy="530352"/>
          </a:xfrm>
          <a:prstGeom prst="rect">
            <a:avLst/>
          </a:prstGeom>
        </p:spPr>
      </p:pic>
      <p:pic>
        <p:nvPicPr>
          <p:cNvPr id="3" name="Image 1" descr="/private/tmp/claude-501/-Users-brahmajikatragadda-Desktop-PHD-NodeGrade/b7a79f34-9904-4a09-9f4e-68c4de20919b/scratchpad/seminars/template_assets/logo_icfaite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0" y="54864"/>
            <a:ext cx="1444752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621792"/>
            <a:ext cx="109087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Inductive Failure-Mode Analysis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640080" y="169164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6" name="Shape 2"/>
          <p:cNvSpPr/>
          <p:nvPr/>
        </p:nvSpPr>
        <p:spPr>
          <a:xfrm>
            <a:off x="822960" y="192024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3"/>
          <p:cNvSpPr/>
          <p:nvPr/>
        </p:nvSpPr>
        <p:spPr>
          <a:xfrm>
            <a:off x="82296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822960" y="260604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worst cases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22960" y="3337560"/>
            <a:ext cx="2240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0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samples selected by |kg_score − human_score|, roughly the top 5%.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3429000" y="169164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611880" y="192024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2" name="Text 8"/>
          <p:cNvSpPr/>
          <p:nvPr/>
        </p:nvSpPr>
        <p:spPr>
          <a:xfrm>
            <a:off x="361188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611880" y="260604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predetermined taxonomy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611880" y="3337560"/>
            <a:ext cx="2240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0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emerge from reading the cases — not fit to a preset list.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17920" y="169164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00800" y="192024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7" name="Text 13"/>
          <p:cNvSpPr/>
          <p:nvPr/>
        </p:nvSpPr>
        <p:spPr>
          <a:xfrm>
            <a:off x="640080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6400800" y="260604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Root-cause, not just describe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6400800" y="3337560"/>
            <a:ext cx="2240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0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each pattern back to the exact line of code responsible.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9006840" y="169164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9189720" y="192024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2" name="Text 18"/>
          <p:cNvSpPr/>
          <p:nvPr/>
        </p:nvSpPr>
        <p:spPr>
          <a:xfrm>
            <a:off x="918972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9189720" y="260604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offline against real data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9189720" y="3337560"/>
            <a:ext cx="2240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0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fix re-run against the real, unchanged extraction outputs.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do apparently similar cases succeed?” matters as much as “why do bad cases fail?”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9DC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brahmajikatragadda-Desktop-PHD-NodeGrade/b7a79f34-9904-4a09-9f4e-68c4de20919b/scratchpad/seminars/template_assets/logo_icfai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9144"/>
            <a:ext cx="2715768" cy="530352"/>
          </a:xfrm>
          <a:prstGeom prst="rect">
            <a:avLst/>
          </a:prstGeom>
        </p:spPr>
      </p:pic>
      <p:pic>
        <p:nvPicPr>
          <p:cNvPr id="3" name="Image 1" descr="/private/tmp/claude-501/-Users-brahmajikatragadda-Desktop-PHD-NodeGrade/b7a79f34-9904-4a09-9f4e-68c4de20919b/scratchpad/seminars/template_assets/logo_icfaite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0" y="54864"/>
            <a:ext cx="1444752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621792"/>
            <a:ext cx="109087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 — Tokenization Bug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6949440" y="1371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3E8E5C"/>
          </a:solidFill>
          <a:ln/>
        </p:spPr>
      </p:sp>
      <p:sp>
        <p:nvSpPr>
          <p:cNvPr id="6" name="Text 2"/>
          <p:cNvSpPr/>
          <p:nvPr/>
        </p:nvSpPr>
        <p:spPr>
          <a:xfrm>
            <a:off x="6949440" y="137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&amp; MERGED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640080" y="1417320"/>
            <a:ext cx="5212080" cy="3977640"/>
          </a:xfrm>
          <a:prstGeom prst="roundRect">
            <a:avLst>
              <a:gd name="adj" fmla="val 2299"/>
            </a:avLst>
          </a:prstGeom>
          <a:solidFill>
            <a:srgbClr val="1B2A4A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691640"/>
            <a:ext cx="548640" cy="5486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600200" y="17373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bug</a:t>
            </a:r>
            <a:endParaRPr lang="en-US" sz="1500" dirty="0"/>
          </a:p>
        </p:txBody>
      </p:sp>
      <p:sp>
        <p:nvSpPr>
          <p:cNvPr id="10" name="Text 5"/>
          <p:cNvSpPr/>
          <p:nvPr/>
        </p:nvSpPr>
        <p:spPr>
          <a:xfrm>
            <a:off x="914400" y="233172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text tokenized via .split() — no punctuation stripped.</a:t>
            </a:r>
            <a:endParaRPr lang="en-US" sz="1300" dirty="0"/>
          </a:p>
        </p:txBody>
      </p:sp>
      <p:sp>
        <p:nvSpPr>
          <p:cNvPr id="11" name="Shape 6"/>
          <p:cNvSpPr/>
          <p:nvPr/>
        </p:nvSpPr>
        <p:spPr>
          <a:xfrm>
            <a:off x="914400" y="2971800"/>
            <a:ext cx="4663440" cy="1371600"/>
          </a:xfrm>
          <a:prstGeom prst="roundRect">
            <a:avLst>
              <a:gd name="adj" fmla="val 4000"/>
            </a:avLst>
          </a:prstGeom>
          <a:solidFill>
            <a:srgbClr val="0F1A30"/>
          </a:solidFill>
          <a:ln/>
        </p:spPr>
      </p:sp>
      <p:sp>
        <p:nvSpPr>
          <p:cNvPr id="12" name="Text 7"/>
          <p:cNvSpPr/>
          <p:nvPr/>
        </p:nvSpPr>
        <p:spPr>
          <a:xfrm>
            <a:off x="1097280" y="3108960"/>
            <a:ext cx="4297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"What is a queue?"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 → "queue?"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never matches KG text → "queue"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914400" y="448056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false OUT_OF_KG_DOMAIN flag, regardless of extraction quality.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6172200" y="1417320"/>
            <a:ext cx="534924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6446520" y="16459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Fix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6446520" y="21945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 / 1,262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6446520" y="27432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affected (8.4%)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6446520" y="32004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6446520" y="37490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all “What is a &lt;concept&gt;?”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446520" y="4297680"/>
            <a:ext cx="47548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446520" y="443484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106 affected samples: MAE improves 65.1% (3.96 → 1.38) — now beating C_LLM on those samples. Regression-validated: exactly 106/106 flips, 0 unexpected side effects.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9DC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brahmajikatragadda-Desktop-PHD-NodeGrade/b7a79f34-9904-4a09-9f4e-68c4de20919b/scratchpad/seminars/template_assets/logo_icfai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9144"/>
            <a:ext cx="2715768" cy="530352"/>
          </a:xfrm>
          <a:prstGeom prst="rect">
            <a:avLst/>
          </a:prstGeom>
        </p:spPr>
      </p:pic>
      <p:pic>
        <p:nvPicPr>
          <p:cNvPr id="3" name="Image 1" descr="/private/tmp/claude-501/-Users-brahmajikatragadda-Desktop-PHD-NodeGrade/b7a79f34-9904-4a09-9f4e-68c4de20919b/scratchpad/seminars/template_assets/logo_icfaite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0" y="54864"/>
            <a:ext cx="1444752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621792"/>
            <a:ext cx="109087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2 &amp; 3 — Two Unfixed Defects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7086600" y="137160"/>
            <a:ext cx="2240280" cy="457200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/>
        </p:spPr>
      </p:sp>
      <p:sp>
        <p:nvSpPr>
          <p:cNvPr id="6" name="Text 2"/>
          <p:cNvSpPr/>
          <p:nvPr/>
        </p:nvSpPr>
        <p:spPr>
          <a:xfrm>
            <a:off x="7086600" y="1371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DIAGNOSED ONLY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640080" y="1417320"/>
            <a:ext cx="521208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914400" y="16459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914400" y="201168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relationship_accuracy zeroed by design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914400" y="260604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0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answers that structurally can't express a relationship (single-concept facts, comparative questions) score the same as a keyword dump.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914400" y="37947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21.3%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3291840" y="38404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0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samples affected;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0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73.2% of those are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0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human-graded correct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172200" y="1417320"/>
            <a:ext cx="534924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6446520" y="1645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446520" y="201168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concept_coverage is self-referentially vacuous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6446520" y="26060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0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never supplies external ground truth, so coverage compares the student's concepts against... the student's own concepts. Trivially 1.0.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446520" y="37947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35.0%</a:t>
            </a:r>
            <a:endParaRPr lang="en-US" sz="2600" dirty="0"/>
          </a:p>
        </p:txBody>
      </p:sp>
      <p:sp>
        <p:nvSpPr>
          <p:cNvPr id="18" name="Text 14"/>
          <p:cNvSpPr/>
          <p:nvPr/>
        </p:nvSpPr>
        <p:spPr>
          <a:xfrm>
            <a:off x="8823960" y="38404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0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samples show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0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trivial coverage = 1.0,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0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or wrong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9DC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brahmajikatragadda-Desktop-PHD-NodeGrade/b7a79f34-9904-4a09-9f4e-68c4de20919b/scratchpad/seminars/template_assets/logo_icfai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9144"/>
            <a:ext cx="2715768" cy="530352"/>
          </a:xfrm>
          <a:prstGeom prst="rect">
            <a:avLst/>
          </a:prstGeom>
        </p:spPr>
      </p:pic>
      <p:pic>
        <p:nvPicPr>
          <p:cNvPr id="3" name="Image 1" descr="/private/tmp/claude-501/-Users-brahmajikatragadda-Desktop-PHD-NodeGrade/b7a79f34-9904-4a09-9f4e-68c4de20919b/scratchpad/seminars/template_assets/logo_icfaite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0" y="54864"/>
            <a:ext cx="1444752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621792"/>
            <a:ext cx="109087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Rounds, Six Rejected Repairs</a:t>
            </a:r>
            <a:endParaRPr lang="en-US" sz="3000" dirty="0"/>
          </a:p>
        </p:txBody>
      </p:sp>
      <p:sp>
        <p:nvSpPr>
          <p:cNvPr id="5" name="Text 1"/>
          <p:cNvSpPr/>
          <p:nvPr/>
        </p:nvSpPr>
        <p:spPr>
          <a:xfrm>
            <a:off x="64008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candidate tested against pre-committed criteria, before the experiment ran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1828800"/>
          <a:ext cx="1088136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9DC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brahmajikatragadda-Desktop-PHD-NodeGrade/b7a79f34-9904-4a09-9f4e-68c4de20919b/scratchpad/seminars/template_assets/logo_icfai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9144"/>
            <a:ext cx="2715768" cy="530352"/>
          </a:xfrm>
          <a:prstGeom prst="rect">
            <a:avLst/>
          </a:prstGeom>
        </p:spPr>
      </p:pic>
      <p:pic>
        <p:nvPicPr>
          <p:cNvPr id="3" name="Image 1" descr="/private/tmp/claude-501/-Users-brahmajikatragadda-Desktop-PHD-NodeGrade/b7a79f34-9904-4a09-9f4e-68c4de20919b/scratchpad/seminars/template_assets/logo_icfaite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0" y="54864"/>
            <a:ext cx="1444752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621792"/>
            <a:ext cx="109087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Stopping Rule</a:t>
            </a:r>
            <a:endParaRPr lang="en-US" sz="3000" dirty="0"/>
          </a:p>
        </p:txBody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54480"/>
            <a:ext cx="822960" cy="82296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737360" y="1554480"/>
            <a:ext cx="9418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four distinct forms of the same intervention class 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(binary include/exclude of a scoring dimension with weight renormalization) 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failed, this is evidence against the </a:t>
            </a:r>
            <a:pPr indent="0" marL="0">
              <a:lnSpc>
                <a:spcPct val="135000"/>
              </a:lnSpc>
              <a:buNone/>
            </a:pPr>
            <a:r>
              <a:rPr lang="en-US" sz="15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not just miscalibrated parameters.</a:t>
            </a:r>
            <a:endParaRPr lang="en-US" sz="1500" dirty="0"/>
          </a:p>
        </p:txBody>
      </p:sp>
      <p:sp>
        <p:nvSpPr>
          <p:cNvPr id="7" name="Shape 2"/>
          <p:cNvSpPr/>
          <p:nvPr/>
        </p:nvSpPr>
        <p:spPr>
          <a:xfrm>
            <a:off x="640080" y="2971800"/>
            <a:ext cx="10881360" cy="1325880"/>
          </a:xfrm>
          <a:prstGeom prst="roundRect">
            <a:avLst>
              <a:gd name="adj" fmla="val 6897"/>
            </a:avLst>
          </a:prstGeom>
          <a:solidFill>
            <a:srgbClr val="1B2A4A"/>
          </a:solidFill>
          <a:ln/>
        </p:spPr>
      </p:sp>
      <p:sp>
        <p:nvSpPr>
          <p:cNvPr id="8" name="Text 3"/>
          <p:cNvSpPr/>
          <p:nvPr/>
        </p:nvSpPr>
        <p:spPr>
          <a:xfrm>
            <a:off x="914400" y="31546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with respect to the tested intervention classes</a:t>
            </a:r>
            <a:endParaRPr lang="en-US" sz="1450" dirty="0"/>
          </a:p>
        </p:txBody>
      </p:sp>
      <p:sp>
        <p:nvSpPr>
          <p:cNvPr id="9" name="Text 4"/>
          <p:cNvSpPr/>
          <p:nvPr/>
        </p:nvSpPr>
        <p:spPr>
          <a:xfrm>
            <a:off x="914400" y="361188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narrower, more defensible claim than declaring the problem permanently unsolvable. A differently-structured intervention remains an open question this investigation did not address.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640080" y="46177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this changes the deployed grade — production already discards the raw KG-formula score for the Verifier (w = 1.0). This affects only the standalone ablation metric.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9DC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brahmajikatragadda-Desktop-PHD-NodeGrade/b7a79f34-9904-4a09-9f4e-68c4de20919b/scratchpad/seminars/template_assets/logo_icfai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9144"/>
            <a:ext cx="2715768" cy="530352"/>
          </a:xfrm>
          <a:prstGeom prst="rect">
            <a:avLst/>
          </a:prstGeom>
        </p:spPr>
      </p:pic>
      <p:pic>
        <p:nvPicPr>
          <p:cNvPr id="3" name="Image 1" descr="/private/tmp/claude-501/-Users-brahmajikatragadda-Desktop-PHD-NodeGrade/b7a79f34-9904-4a09-9f4e-68c4de20919b/scratchpad/seminars/template_assets/logo_icfaite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0" y="54864"/>
            <a:ext cx="1444752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621792"/>
            <a:ext cx="109087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Provenance Audit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640080" y="169164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6" name="Text 2"/>
          <p:cNvSpPr/>
          <p:nvPr/>
        </p:nvSpPr>
        <p:spPr>
          <a:xfrm>
            <a:off x="914400" y="16916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Mohler 2011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3383280" y="169164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nkazi/MohlerASAG (HuggingFace, CC-BY-4.0)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9418320" y="1892808"/>
            <a:ext cx="1920240" cy="502920"/>
          </a:xfrm>
          <a:prstGeom prst="roundRect">
            <a:avLst>
              <a:gd name="adj" fmla="val 50909"/>
            </a:avLst>
          </a:prstGeom>
          <a:solidFill>
            <a:srgbClr val="3E8E5C"/>
          </a:solidFill>
          <a:ln/>
        </p:spPr>
      </p:sp>
      <p:sp>
        <p:nvSpPr>
          <p:cNvPr id="9" name="Text 5"/>
          <p:cNvSpPr/>
          <p:nvPr/>
        </p:nvSpPr>
        <p:spPr>
          <a:xfrm>
            <a:off x="9418320" y="189280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40080" y="278892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914400" y="27889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DigiKlausur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383280" y="2788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Character-for-character match vs. GitHub source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9418320" y="2990088"/>
            <a:ext cx="1920240" cy="502920"/>
          </a:xfrm>
          <a:prstGeom prst="roundRect">
            <a:avLst>
              <a:gd name="adj" fmla="val 50909"/>
            </a:avLst>
          </a:prstGeom>
          <a:solidFill>
            <a:srgbClr val="3E8E5C"/>
          </a:solidFill>
          <a:ln/>
        </p:spPr>
      </p:sp>
      <p:sp>
        <p:nvSpPr>
          <p:cNvPr id="14" name="Text 10"/>
          <p:cNvSpPr/>
          <p:nvPr/>
        </p:nvSpPr>
        <p:spPr>
          <a:xfrm>
            <a:off x="9418320" y="299008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0080" y="38862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914400" y="38862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ASAG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3383280" y="388620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path could not be reconstructed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9418320" y="4087368"/>
            <a:ext cx="1920240" cy="502920"/>
          </a:xfrm>
          <a:prstGeom prst="roundRect">
            <a:avLst>
              <a:gd name="adj" fmla="val 50909"/>
            </a:avLst>
          </a:prstGeom>
          <a:solidFill>
            <a:srgbClr val="E6A817"/>
          </a:solidFill>
          <a:ln/>
        </p:spPr>
      </p:sp>
      <p:sp>
        <p:nvSpPr>
          <p:cNvPr id="19" name="Text 15"/>
          <p:cNvSpPr/>
          <p:nvPr/>
        </p:nvSpPr>
        <p:spPr>
          <a:xfrm>
            <a:off x="9418320" y="408736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Unverified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40080" y="512064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276088"/>
            <a:ext cx="548640" cy="5486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645920" y="512064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“Unverified” is not “fake.” No positive evidence of fabrication was found — only an absence of evidence of authenticity. Those are different claims, kept separate.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9DC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brahmajikatragadda-Desktop-PHD-NodeGrade/b7a79f34-9904-4a09-9f4e-68c4de20919b/scratchpad/seminars/template_assets/logo_icfai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9144"/>
            <a:ext cx="2715768" cy="530352"/>
          </a:xfrm>
          <a:prstGeom prst="rect">
            <a:avLst/>
          </a:prstGeom>
        </p:spPr>
      </p:pic>
      <p:pic>
        <p:nvPicPr>
          <p:cNvPr id="3" name="Image 1" descr="/private/tmp/claude-501/-Users-brahmajikatragadda-Desktop-PHD-NodeGrade/b7a79f34-9904-4a09-9f4e-68c4de20919b/scratchpad/seminars/template_assets/logo_icfaite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0" y="54864"/>
            <a:ext cx="1444752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621792"/>
            <a:ext cx="109087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as a First-Class Artifact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640080" y="1600200"/>
            <a:ext cx="34290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6" name="Text 2"/>
          <p:cNvSpPr/>
          <p:nvPr/>
        </p:nvSpPr>
        <p:spPr>
          <a:xfrm>
            <a:off x="640080" y="1801368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350+</a:t>
            </a:r>
            <a:endParaRPr lang="en-US" sz="4000" dirty="0"/>
          </a:p>
        </p:txBody>
      </p:sp>
      <p:sp>
        <p:nvSpPr>
          <p:cNvPr id="7" name="Text 3"/>
          <p:cNvSpPr/>
          <p:nvPr/>
        </p:nvSpPr>
        <p:spPr>
          <a:xfrm>
            <a:off x="640080" y="2715768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0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claim checks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4251960" y="1600200"/>
            <a:ext cx="34290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4251960" y="1801368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10" name="Text 6"/>
          <p:cNvSpPr/>
          <p:nvPr/>
        </p:nvSpPr>
        <p:spPr>
          <a:xfrm>
            <a:off x="4251960" y="2715768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0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unexplained mismatches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7863840" y="1600200"/>
            <a:ext cx="34290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7863840" y="1801368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7863840" y="2715768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0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rounds of external review</a:t>
            </a:r>
            <a:endParaRPr lang="en-US" sz="13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794760"/>
            <a:ext cx="640080" cy="6400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54480" y="384048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reported number is independently recomputed from cached predictions — not trusted from a prior run's printed output.</a:t>
            </a:r>
            <a:endParaRPr lang="en-US" sz="13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572000"/>
            <a:ext cx="640080" cy="6400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554480" y="461772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findings — an ensemble-blend result, and the Finding-3 exclude-and-renormalize fix — were retracted the same day they failed their own validation.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3152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691640"/>
            <a:ext cx="10515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results are still results. This project's work says: here are two genuine implementation and design problems, and straightforward repairs did not improve the aggregate system.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731520" y="3794760"/>
            <a:ext cx="1828800" cy="0"/>
          </a:xfrm>
          <a:prstGeom prst="line">
            <a:avLst/>
          </a:prstGeom>
          <a:noFill/>
          <a:ln w="25400">
            <a:solidFill>
              <a:srgbClr val="FFD16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402336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point was never that every proposed fix failed. It's that the investigation established, through a disciplined and reproducible process, which intuitively appealing interventions did not hold up under empirical validation.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4008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08760" y="658368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731520" y="1673352"/>
            <a:ext cx="128016" cy="12801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5" name="Text 2"/>
          <p:cNvSpPr/>
          <p:nvPr/>
        </p:nvSpPr>
        <p:spPr>
          <a:xfrm>
            <a:off x="1051560" y="1600200"/>
            <a:ext cx="10332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small, real, response-level-fragile improvement over an identical-model LLM baseline — driven by the Verifier, not KG-grounding.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31520" y="2587752"/>
            <a:ext cx="128016" cy="12801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7" name="Text 4"/>
          <p:cNvSpPr/>
          <p:nvPr/>
        </p:nvSpPr>
        <p:spPr>
          <a:xfrm>
            <a:off x="1051560" y="2514600"/>
            <a:ext cx="10332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Self-consistency ensembling: a real response-level gain whose question-level robustness collapses under a fair control — on every dataset it was checked against.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31520" y="3502152"/>
            <a:ext cx="128016" cy="12801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9" name="Text 6"/>
          <p:cNvSpPr/>
          <p:nvPr/>
        </p:nvSpPr>
        <p:spPr>
          <a:xfrm>
            <a:off x="1051560" y="3429000"/>
            <a:ext cx="10332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diagnosed, unfixed scoring defects and a disciplined, evidence-based stopping rule after five rejected repairs.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31520" y="4416552"/>
            <a:ext cx="128016" cy="12801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1" name="Text 8"/>
          <p:cNvSpPr/>
          <p:nvPr/>
        </p:nvSpPr>
        <p:spPr>
          <a:xfrm>
            <a:off x="1051560" y="4343400"/>
            <a:ext cx="10332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dataset provenance audit that distinguishes Verified from Unverified from Invalid — and applies the same bar regardless of which direction a result points.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31520" y="56235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&amp; Discussion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2026-07-31T09:03:28Z</dcterms:created>
  <dcterms:modified xsi:type="dcterms:W3CDTF">2026-07-31T09:03:28Z</dcterms:modified>
</cp:coreProperties>
</file>